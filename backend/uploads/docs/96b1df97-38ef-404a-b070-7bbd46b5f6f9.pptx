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350" r:id="rId6"/>
    <p:sldId id="348" r:id="rId7"/>
    <p:sldId id="337" r:id="rId8"/>
    <p:sldId id="352" r:id="rId9"/>
    <p:sldId id="266" r:id="rId10"/>
    <p:sldId id="355" r:id="rId11"/>
    <p:sldId id="324" r:id="rId12"/>
    <p:sldId id="269" r:id="rId13"/>
    <p:sldId id="267" r:id="rId14"/>
    <p:sldId id="358" r:id="rId15"/>
    <p:sldId id="361" r:id="rId16"/>
    <p:sldId id="362" r:id="rId17"/>
    <p:sldId id="329" r:id="rId18"/>
    <p:sldId id="363" r:id="rId19"/>
    <p:sldId id="365" r:id="rId20"/>
    <p:sldId id="322" r:id="rId21"/>
    <p:sldId id="323" r:id="rId22"/>
    <p:sldId id="333" r:id="rId2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74879" autoAdjust="0"/>
  </p:normalViewPr>
  <p:slideViewPr>
    <p:cSldViewPr>
      <p:cViewPr varScale="1">
        <p:scale>
          <a:sx n="87" d="100"/>
          <a:sy n="87" d="100"/>
        </p:scale>
        <p:origin x="714" y="96"/>
      </p:cViewPr>
      <p:guideLst>
        <p:guide orient="horz" pos="2880"/>
        <p:guide pos="2160"/>
      </p:guideLst>
    </p:cSldViewPr>
  </p:slideViewPr>
  <p:outlineViewPr>
    <p:cViewPr>
      <p:scale>
        <a:sx n="33" d="100"/>
        <a:sy n="33" d="100"/>
      </p:scale>
      <p:origin x="0" y="-6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95B3FB6-0A3F-49AA-A64F-B012084AC957}" type="datetimeFigureOut">
              <a:rPr lang="en-IN" smtClean="0"/>
              <a:t>22-02-2026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08429D6-5D93-4F53-AE23-8707771C7E24}" type="slidenum">
              <a:rPr lang="en-IN" smtClean="0"/>
              <a:t>‹#›</a:t>
            </a:fld>
            <a:endParaRPr lang="en-IN"/>
          </a:p>
        </p:txBody>
      </p:sp>
    </p:spTree>
    <p:extLst>
      <p:ext uri="{BB962C8B-B14F-4D97-AF65-F5344CB8AC3E}">
        <p14:creationId xmlns:p14="http://schemas.microsoft.com/office/powerpoint/2010/main" val="4204533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2</a:t>
            </a:fld>
            <a:endParaRPr lang="en-IN"/>
          </a:p>
        </p:txBody>
      </p:sp>
    </p:spTree>
    <p:extLst>
      <p:ext uri="{BB962C8B-B14F-4D97-AF65-F5344CB8AC3E}">
        <p14:creationId xmlns:p14="http://schemas.microsoft.com/office/powerpoint/2010/main" val="190029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modern messaging platforms, users exchange many voice notes daily. However, searching for an old voice message is very difficult because current systems only support text-based search.</a:t>
            </a:r>
          </a:p>
          <a:p>
            <a:r>
              <a:rPr lang="en-US" dirty="0"/>
              <a:t>If users do not remember the exact spoken words, finding important voice messages becomes time-consuming.</a:t>
            </a:r>
          </a:p>
          <a:p>
            <a:r>
              <a:rPr lang="en-US" dirty="0"/>
              <a:t>To solve this problem, we developed an Intelligent Audio Search System using Artificial Intelligence. The system converts audio into features like MFCC and spectrograms, then applies deep learning models to understand speech patterns.</a:t>
            </a:r>
          </a:p>
          <a:p>
            <a:r>
              <a:rPr lang="en-US" dirty="0"/>
              <a:t>Finally, using similarity comparison, the system retrieves the most relevant voice message quickly and accurately.</a:t>
            </a:r>
          </a:p>
        </p:txBody>
      </p:sp>
      <p:sp>
        <p:nvSpPr>
          <p:cNvPr id="4" name="Slide Number Placeholder 3"/>
          <p:cNvSpPr>
            <a:spLocks noGrp="1"/>
          </p:cNvSpPr>
          <p:nvPr>
            <p:ph type="sldNum" sz="quarter" idx="5"/>
          </p:nvPr>
        </p:nvSpPr>
        <p:spPr/>
        <p:txBody>
          <a:bodyPr/>
          <a:lstStyle/>
          <a:p>
            <a:fld id="{108429D6-5D93-4F53-AE23-8707771C7E24}" type="slidenum">
              <a:rPr lang="en-IN" smtClean="0"/>
              <a:t>3</a:t>
            </a:fld>
            <a:endParaRPr lang="en-IN"/>
          </a:p>
        </p:txBody>
      </p:sp>
    </p:spTree>
    <p:extLst>
      <p:ext uri="{BB962C8B-B14F-4D97-AF65-F5344CB8AC3E}">
        <p14:creationId xmlns:p14="http://schemas.microsoft.com/office/powerpoint/2010/main" val="4257388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Voice-based communication has grown rapidly with messaging applications. As a result, a large amount of audio data is stored in conversations.</a:t>
            </a:r>
          </a:p>
          <a:p>
            <a:r>
              <a:rPr lang="en-US" dirty="0"/>
              <a:t>Unlike text messages, audio cannot be easily searched using keywords. Existing platforms do not analyze the internal speech content or understand the meaning of voice messages.</a:t>
            </a:r>
          </a:p>
          <a:p>
            <a:r>
              <a:rPr lang="en-US" dirty="0"/>
              <a:t>Therefore, there is a need for an intelligent system that understands audio content and retrieves messages based on similarity rather than exact words.</a:t>
            </a:r>
          </a:p>
          <a:p>
            <a:r>
              <a:rPr lang="en-US" dirty="0"/>
              <a:t>Our work focuses on building such a system using deep learning techniques.</a:t>
            </a:r>
          </a:p>
        </p:txBody>
      </p:sp>
      <p:sp>
        <p:nvSpPr>
          <p:cNvPr id="4" name="Slide Number Placeholder 3"/>
          <p:cNvSpPr>
            <a:spLocks noGrp="1"/>
          </p:cNvSpPr>
          <p:nvPr>
            <p:ph type="sldNum" sz="quarter" idx="5"/>
          </p:nvPr>
        </p:nvSpPr>
        <p:spPr/>
        <p:txBody>
          <a:bodyPr/>
          <a:lstStyle/>
          <a:p>
            <a:fld id="{108429D6-5D93-4F53-AE23-8707771C7E24}" type="slidenum">
              <a:rPr lang="en-IN" smtClean="0"/>
              <a:t>4</a:t>
            </a:fld>
            <a:endParaRPr lang="en-IN"/>
          </a:p>
        </p:txBody>
      </p:sp>
    </p:spTree>
    <p:extLst>
      <p:ext uri="{BB962C8B-B14F-4D97-AF65-F5344CB8AC3E}">
        <p14:creationId xmlns:p14="http://schemas.microsoft.com/office/powerpoint/2010/main" val="3095797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contains voice notes and related metadata exchanged between users.</a:t>
            </a:r>
          </a:p>
          <a:p>
            <a:r>
              <a:rPr lang="en-US" dirty="0"/>
              <a:t>It includes voice messages, metadata such as timestamp and sender information, and feature representations stored in a searchable format.</a:t>
            </a:r>
          </a:p>
          <a:p>
            <a:r>
              <a:rPr lang="en-US" dirty="0"/>
              <a:t>After processing, each audio message is converted into numerical embeddings. These embeddings allow fast and accurate retrieval of relevant voice messages.</a:t>
            </a:r>
          </a:p>
        </p:txBody>
      </p:sp>
      <p:sp>
        <p:nvSpPr>
          <p:cNvPr id="4" name="Slide Number Placeholder 3"/>
          <p:cNvSpPr>
            <a:spLocks noGrp="1"/>
          </p:cNvSpPr>
          <p:nvPr>
            <p:ph type="sldNum" sz="quarter" idx="5"/>
          </p:nvPr>
        </p:nvSpPr>
        <p:spPr/>
        <p:txBody>
          <a:bodyPr/>
          <a:lstStyle/>
          <a:p>
            <a:fld id="{108429D6-5D93-4F53-AE23-8707771C7E24}" type="slidenum">
              <a:rPr lang="en-IN" smtClean="0"/>
              <a:t>5</a:t>
            </a:fld>
            <a:endParaRPr lang="en-IN"/>
          </a:p>
        </p:txBody>
      </p:sp>
    </p:spTree>
    <p:extLst>
      <p:ext uri="{BB962C8B-B14F-4D97-AF65-F5344CB8AC3E}">
        <p14:creationId xmlns:p14="http://schemas.microsoft.com/office/powerpoint/2010/main" val="2760664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main details stored for each voice message in our dataset.</a:t>
            </a:r>
          </a:p>
          <a:p>
            <a:r>
              <a:rPr lang="en-US" dirty="0"/>
              <a:t>Each voice message in our dataset contains several important attributes. It includes an </a:t>
            </a:r>
            <a:r>
              <a:rPr lang="en-US" b="1" dirty="0" err="1"/>
              <a:t>audio_id</a:t>
            </a:r>
            <a:r>
              <a:rPr lang="en-US" dirty="0"/>
              <a:t>, which is a unique identifier for each voice message, and the </a:t>
            </a:r>
            <a:r>
              <a:rPr lang="en-US" b="1" dirty="0" err="1"/>
              <a:t>audio_duration</a:t>
            </a:r>
            <a:r>
              <a:rPr lang="en-US" dirty="0"/>
              <a:t>, which represents the length of the audio in seconds. The </a:t>
            </a:r>
            <a:r>
              <a:rPr lang="en-US" b="1" dirty="0" err="1"/>
              <a:t>audio_text</a:t>
            </a:r>
            <a:r>
              <a:rPr lang="en-US" dirty="0"/>
              <a:t> stores the text version generated using speech-to-text conversion. The </a:t>
            </a:r>
            <a:r>
              <a:rPr lang="en-US" b="1" dirty="0" err="1"/>
              <a:t>audio_features</a:t>
            </a:r>
            <a:r>
              <a:rPr lang="en-US" dirty="0"/>
              <a:t> contain extracted features such as MFCC or speech embeddings that help the system understand the audio content. Finally, the </a:t>
            </a:r>
            <a:r>
              <a:rPr lang="en-US" b="1" dirty="0" err="1"/>
              <a:t>confidence_score</a:t>
            </a:r>
            <a:r>
              <a:rPr lang="en-US" dirty="0"/>
              <a:t> indicates the accuracy level of the speech recognition process.</a:t>
            </a:r>
          </a:p>
          <a:p>
            <a:r>
              <a:rPr lang="en-US" dirty="0"/>
              <a:t>Together, these attributes help the system process, analyze, and retrieve voice messages efficiently.</a:t>
            </a:r>
          </a:p>
        </p:txBody>
      </p:sp>
      <p:sp>
        <p:nvSpPr>
          <p:cNvPr id="4" name="Slide Number Placeholder 3"/>
          <p:cNvSpPr>
            <a:spLocks noGrp="1"/>
          </p:cNvSpPr>
          <p:nvPr>
            <p:ph type="sldNum" sz="quarter" idx="5"/>
          </p:nvPr>
        </p:nvSpPr>
        <p:spPr/>
        <p:txBody>
          <a:bodyPr/>
          <a:lstStyle/>
          <a:p>
            <a:fld id="{108429D6-5D93-4F53-AE23-8707771C7E24}" type="slidenum">
              <a:rPr lang="en-IN" smtClean="0"/>
              <a:t>6</a:t>
            </a:fld>
            <a:endParaRPr lang="en-IN"/>
          </a:p>
        </p:txBody>
      </p:sp>
    </p:spTree>
    <p:extLst>
      <p:ext uri="{BB962C8B-B14F-4D97-AF65-F5344CB8AC3E}">
        <p14:creationId xmlns:p14="http://schemas.microsoft.com/office/powerpoint/2010/main" val="4014001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DNN</a:t>
            </a:r>
            <a:br>
              <a:rPr lang="en-US" dirty="0"/>
            </a:br>
            <a:r>
              <a:rPr lang="en-US" dirty="0"/>
              <a:t>A Deep Neural Network, or DNN, is a machine learning model designed to learn complex patterns from data using multiple processing layers.</a:t>
            </a:r>
          </a:p>
          <a:p>
            <a:r>
              <a:rPr lang="en-US" dirty="0"/>
              <a:t>A Deep Neural Network consists of three main parts: an input layer, multiple hidden layers, and an output layer.</a:t>
            </a:r>
          </a:p>
          <a:p>
            <a:br>
              <a:rPr lang="en-US" dirty="0"/>
            </a:br>
            <a:r>
              <a:rPr lang="en-US" dirty="0"/>
              <a:t>WORKING</a:t>
            </a:r>
            <a:br>
              <a:rPr lang="en-US" dirty="0"/>
            </a:br>
            <a:r>
              <a:rPr lang="en-US" dirty="0"/>
              <a:t>In our audio-based system, the raw voice signal is first converted into numerical features such as MFCC or spectrogram values. These features represent In this approach, the raw voice signal is first converted into numerical features such as MFCC or spectrogram representations, which capture important information like frequency patterns, pitch, and speech characteristics. These extracted features are then fed into the Deep Neural Network, where the hidden layers process the data step by step to learn meaningful and complex patterns from the audio. Finally, the network generates a compact embedding that represents the voice message</a:t>
            </a:r>
          </a:p>
          <a:p>
            <a:br>
              <a:rPr lang="en-US" dirty="0"/>
            </a:br>
            <a:r>
              <a:rPr lang="en-US" dirty="0"/>
              <a:t>SCENARIO</a:t>
            </a:r>
            <a:br>
              <a:rPr lang="en-US" dirty="0"/>
            </a:br>
            <a:r>
              <a:rPr lang="en-US" dirty="0"/>
              <a:t>In our system, a user first provides a voice input. The audio signal is then converted into MFCC or spectrogram features. These features are passed through the DNN model, which generates a compact feature representation known as a voice embedding. </a:t>
            </a:r>
          </a:p>
          <a:p>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7</a:t>
            </a:fld>
            <a:endParaRPr lang="en-IN"/>
          </a:p>
        </p:txBody>
      </p:sp>
    </p:spTree>
    <p:extLst>
      <p:ext uri="{BB962C8B-B14F-4D97-AF65-F5344CB8AC3E}">
        <p14:creationId xmlns:p14="http://schemas.microsoft.com/office/powerpoint/2010/main" val="258528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embedding is compared with the stored voice embeddings in the database, and finally, the system retrieves the most similar voice message based on similarity measurement.</a:t>
            </a:r>
          </a:p>
          <a:p>
            <a:r>
              <a:rPr lang="en-US" dirty="0"/>
              <a:t>The DNN takes audio features as input and processes them through multiple layers to learn important voice patterns. It then generates a compact embedding that represents the voice message. During training, the model improves its accuracy by adjusting its weights to reduce errors.</a:t>
            </a:r>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8</a:t>
            </a:fld>
            <a:endParaRPr lang="en-IN"/>
          </a:p>
        </p:txBody>
      </p:sp>
    </p:spTree>
    <p:extLst>
      <p:ext uri="{BB962C8B-B14F-4D97-AF65-F5344CB8AC3E}">
        <p14:creationId xmlns:p14="http://schemas.microsoft.com/office/powerpoint/2010/main" val="4249344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the Deep Neural Network, we now move to the Recurrent Neural Network, or RNN. Unlike DNN, which processes input independently, an RNN is specifically designed to handle sequential data by remembering previous information. It contains feedback connections that allow information from earlier time steps to influence the current output. This helps the network maintain memory across the sequence.</a:t>
            </a:r>
          </a:p>
          <a:p>
            <a:r>
              <a:rPr lang="en-US" dirty="0"/>
              <a:t>In the audio domain, the voice signal is divided into small time frames and processed sequentially. As each frame is processed, the hidden state is continuously updated, capturing contextual voice information over time. This enables the model to understand temporal dependencies in speech, such as rhythm, tone variation, and speech flow.</a:t>
            </a:r>
          </a:p>
        </p:txBody>
      </p:sp>
      <p:sp>
        <p:nvSpPr>
          <p:cNvPr id="4" name="Slide Number Placeholder 3"/>
          <p:cNvSpPr>
            <a:spLocks noGrp="1"/>
          </p:cNvSpPr>
          <p:nvPr>
            <p:ph type="sldNum" sz="quarter" idx="5"/>
          </p:nvPr>
        </p:nvSpPr>
        <p:spPr/>
        <p:txBody>
          <a:bodyPr/>
          <a:lstStyle/>
          <a:p>
            <a:fld id="{108429D6-5D93-4F53-AE23-8707771C7E24}" type="slidenum">
              <a:rPr lang="en-IN" smtClean="0"/>
              <a:t>9</a:t>
            </a:fld>
            <a:endParaRPr lang="en-IN"/>
          </a:p>
        </p:txBody>
      </p:sp>
    </p:spTree>
    <p:extLst>
      <p:ext uri="{BB962C8B-B14F-4D97-AF65-F5344CB8AC3E}">
        <p14:creationId xmlns:p14="http://schemas.microsoft.com/office/powerpoint/2010/main" val="4086411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training, the RNN uses Backpropagation Through Time to update its weights and learn long-term speech patterns. After processing the full sequence, it generates a context-aware embedding that represents the audio.</a:t>
            </a:r>
          </a:p>
          <a:p>
            <a:r>
              <a:rPr lang="en-US" dirty="0"/>
              <a:t>In our system, the voice input is converted into sequential feature frames, processed step by step by the RNN, and a memory-based embedding is created. This embedding is compared with stored voice embeddings to retrieve the most similar voice message.</a:t>
            </a:r>
          </a:p>
        </p:txBody>
      </p:sp>
      <p:sp>
        <p:nvSpPr>
          <p:cNvPr id="4" name="Slide Number Placeholder 3"/>
          <p:cNvSpPr>
            <a:spLocks noGrp="1"/>
          </p:cNvSpPr>
          <p:nvPr>
            <p:ph type="sldNum" sz="quarter" idx="5"/>
          </p:nvPr>
        </p:nvSpPr>
        <p:spPr/>
        <p:txBody>
          <a:bodyPr/>
          <a:lstStyle/>
          <a:p>
            <a:fld id="{108429D6-5D93-4F53-AE23-8707771C7E24}" type="slidenum">
              <a:rPr lang="en-IN" smtClean="0"/>
              <a:t>10</a:t>
            </a:fld>
            <a:endParaRPr lang="en-IN"/>
          </a:p>
        </p:txBody>
      </p:sp>
    </p:spTree>
    <p:extLst>
      <p:ext uri="{BB962C8B-B14F-4D97-AF65-F5344CB8AC3E}">
        <p14:creationId xmlns:p14="http://schemas.microsoft.com/office/powerpoint/2010/main" val="1888685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11</a:t>
            </a:fld>
            <a:endParaRPr lang="en-IN"/>
          </a:p>
        </p:txBody>
      </p:sp>
    </p:spTree>
    <p:extLst>
      <p:ext uri="{BB962C8B-B14F-4D97-AF65-F5344CB8AC3E}">
        <p14:creationId xmlns:p14="http://schemas.microsoft.com/office/powerpoint/2010/main" val="3790007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Times New Roman" panose="02020603050405020304" pitchFamily="18" charset="0"/>
                <a:cs typeface="Times New Roman" panose="02020603050405020304" pitchFamily="18" charset="0"/>
              </a:rPr>
              <a:t>NOTE</a:t>
            </a:r>
            <a:r>
              <a:rPr lang="en-US" sz="1200" dirty="0">
                <a:latin typeface="Times New Roman" panose="02020603050405020304" pitchFamily="18" charset="0"/>
                <a:cs typeface="Times New Roman" panose="02020603050405020304" pitchFamily="18" charset="0"/>
              </a:rPr>
              <a:t> : The HRNN model was trained using the </a:t>
            </a:r>
            <a:r>
              <a:rPr lang="en-US" sz="1200" dirty="0" err="1">
                <a:latin typeface="Times New Roman" panose="02020603050405020304" pitchFamily="18" charset="0"/>
                <a:cs typeface="Times New Roman" panose="02020603050405020304" pitchFamily="18" charset="0"/>
              </a:rPr>
              <a:t>AdamW</a:t>
            </a:r>
            <a:r>
              <a:rPr lang="en-US" sz="1200" dirty="0">
                <a:latin typeface="Times New Roman" panose="02020603050405020304" pitchFamily="18" charset="0"/>
                <a:cs typeface="Times New Roman" panose="02020603050405020304" pitchFamily="18" charset="0"/>
              </a:rPr>
              <a:t> optimizer with weight decay for stable gradient-based learning. Hyperparameters such as learning rate, batch size, epochs, and chunk size were tuned to optimize performance. Overfitting was reduced using L2 regularization, data augmentation, learning rate scheduling, and stratified data splitting.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latin typeface="Times New Roman" panose="02020603050405020304" pitchFamily="18" charset="0"/>
              <a:cs typeface="Times New Roman" panose="02020603050405020304" pitchFamily="18" charset="0"/>
            </a:endParaRPr>
          </a:p>
          <a:p>
            <a:r>
              <a:rPr lang="en-US" dirty="0"/>
              <a:t>HRNN processes audio sequences at multiple hierarchical levels. The lower-level RNN captures short-term acoustic patterns, while the higher-level RNN models long-term contextual dependencies. This structure improves memory efficiency and enables better contextual understanding for audio retrieval tasks.</a:t>
            </a:r>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12</a:t>
            </a:fld>
            <a:endParaRPr lang="en-IN"/>
          </a:p>
        </p:txBody>
      </p:sp>
    </p:spTree>
    <p:extLst>
      <p:ext uri="{BB962C8B-B14F-4D97-AF65-F5344CB8AC3E}">
        <p14:creationId xmlns:p14="http://schemas.microsoft.com/office/powerpoint/2010/main" val="3879508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13</a:t>
            </a:fld>
            <a:endParaRPr lang="en-IN"/>
          </a:p>
        </p:txBody>
      </p:sp>
    </p:spTree>
    <p:extLst>
      <p:ext uri="{BB962C8B-B14F-4D97-AF65-F5344CB8AC3E}">
        <p14:creationId xmlns:p14="http://schemas.microsoft.com/office/powerpoint/2010/main" val="1008269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Times New Roman" panose="02020603050405020304" pitchFamily="18" charset="0"/>
                <a:cs typeface="Times New Roman" panose="02020603050405020304" pitchFamily="18" charset="0"/>
              </a:rPr>
              <a:t>NOTE</a:t>
            </a:r>
            <a:r>
              <a:rPr lang="en-US" sz="1200" dirty="0">
                <a:latin typeface="Times New Roman" panose="02020603050405020304" pitchFamily="18" charset="0"/>
                <a:cs typeface="Times New Roman" panose="02020603050405020304" pitchFamily="18" charset="0"/>
              </a:rPr>
              <a:t> : The LSTM model was trained using </a:t>
            </a:r>
            <a:r>
              <a:rPr lang="en-US" sz="1200" dirty="0" err="1">
                <a:latin typeface="Times New Roman" panose="02020603050405020304" pitchFamily="18" charset="0"/>
                <a:cs typeface="Times New Roman" panose="02020603050405020304" pitchFamily="18" charset="0"/>
              </a:rPr>
              <a:t>AdamW</a:t>
            </a:r>
            <a:r>
              <a:rPr lang="en-US" sz="1200" dirty="0">
                <a:latin typeface="Times New Roman" panose="02020603050405020304" pitchFamily="18" charset="0"/>
                <a:cs typeface="Times New Roman" panose="02020603050405020304" pitchFamily="18" charset="0"/>
              </a:rPr>
              <a:t> with StepLR scheduling. Overfitting was controlled using L2 regularization, feature normalization, and stratified data splitting.</a:t>
            </a:r>
            <a:endParaRPr lang="en-I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IN" dirty="0"/>
            </a:br>
            <a:r>
              <a:rPr lang="en-US" dirty="0"/>
              <a:t>LSTM is designed to overcome the vanishing gradient problem in standard RNNs. It uses memory cells and gating mechanisms to preserve important long-term information. This allows the model to capture temporal dependencies in audio signals for improved retrieval accuracy.</a:t>
            </a:r>
            <a:endParaRPr lang="en-IN" dirty="0"/>
          </a:p>
          <a:p>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14</a:t>
            </a:fld>
            <a:endParaRPr lang="en-IN"/>
          </a:p>
        </p:txBody>
      </p:sp>
    </p:spTree>
    <p:extLst>
      <p:ext uri="{BB962C8B-B14F-4D97-AF65-F5344CB8AC3E}">
        <p14:creationId xmlns:p14="http://schemas.microsoft.com/office/powerpoint/2010/main" val="1687806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dirty="0">
                <a:latin typeface="Times New Roman" panose="02020603050405020304" pitchFamily="18" charset="0"/>
                <a:cs typeface="Times New Roman" panose="02020603050405020304" pitchFamily="18" charset="0"/>
              </a:rPr>
              <a:t>NOTE</a:t>
            </a:r>
            <a:r>
              <a:rPr lang="en-IN" sz="1200" dirty="0">
                <a:latin typeface="Times New Roman" panose="02020603050405020304" pitchFamily="18" charset="0"/>
                <a:cs typeface="Times New Roman" panose="02020603050405020304" pitchFamily="18" charset="0"/>
              </a:rPr>
              <a:t> : </a:t>
            </a:r>
            <a:r>
              <a:rPr lang="en-US" sz="1200" dirty="0">
                <a:latin typeface="Times New Roman" panose="02020603050405020304" pitchFamily="18" charset="0"/>
                <a:cs typeface="Times New Roman" panose="02020603050405020304" pitchFamily="18" charset="0"/>
              </a:rPr>
              <a:t>The GRU-based ASR model was trained using the </a:t>
            </a:r>
            <a:r>
              <a:rPr lang="en-US" sz="1200" dirty="0" err="1">
                <a:latin typeface="Times New Roman" panose="02020603050405020304" pitchFamily="18" charset="0"/>
                <a:cs typeface="Times New Roman" panose="02020603050405020304" pitchFamily="18" charset="0"/>
              </a:rPr>
              <a:t>AdamW</a:t>
            </a:r>
            <a:r>
              <a:rPr lang="en-US" sz="1200" dirty="0">
                <a:latin typeface="Times New Roman" panose="02020603050405020304" pitchFamily="18" charset="0"/>
                <a:cs typeface="Times New Roman" panose="02020603050405020304" pitchFamily="18" charset="0"/>
              </a:rPr>
              <a:t> optimizer scheduling for stable and adaptive gradient-based learning. Hyperparameters such as learning rate, batch size, number of GRU layers, and hidden size were tuned to optimize performance. Overfitting was reduced using dropout, weight decay and gradient clipping.</a:t>
            </a: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dirty="0"/>
              <a:t>GRU is a simplified version of LSTM that uses update and reset gates to control information flow. It efficiently captures sequential dependencies while reducing computational complexity. GRU provides strong performance in audio modeling with fewer parameters compared to LSTM.</a:t>
            </a:r>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16</a:t>
            </a:fld>
            <a:endParaRPr lang="en-IN"/>
          </a:p>
        </p:txBody>
      </p:sp>
    </p:spTree>
    <p:extLst>
      <p:ext uri="{BB962C8B-B14F-4D97-AF65-F5344CB8AC3E}">
        <p14:creationId xmlns:p14="http://schemas.microsoft.com/office/powerpoint/2010/main" val="480938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deep learning models were evaluated for audio-based multimedia retrieval using Accuracy, Precision, Recall, and F1-Score. Among them, </a:t>
            </a:r>
            <a:r>
              <a:rPr lang="en-US" b="1" dirty="0"/>
              <a:t>HRNN achieved the highest accuracy (97%)</a:t>
            </a:r>
            <a:r>
              <a:rPr lang="en-US" dirty="0"/>
              <a:t> because its hierarchical structure captures both short-term acoustic features and long-term contextual dependencies more effectively.</a:t>
            </a:r>
          </a:p>
          <a:p>
            <a:r>
              <a:rPr lang="en-US" b="1" dirty="0"/>
              <a:t>RNN (93.5%) and GRU (93.13%)</a:t>
            </a:r>
            <a:r>
              <a:rPr lang="en-US" dirty="0"/>
              <a:t> also performed well as they model sequential audio data, but their single-level structure limits deep contextual representation compared to HRNN.</a:t>
            </a:r>
          </a:p>
          <a:p>
            <a:r>
              <a:rPr lang="en-US" b="1" dirty="0"/>
              <a:t>LSTM (80.5%)</a:t>
            </a:r>
            <a:r>
              <a:rPr lang="en-US" dirty="0"/>
              <a:t> showed lower performance despite handling long-term dependencies, possibly due to increased complexity and less effective hierarchical feature extraction in this task.</a:t>
            </a:r>
          </a:p>
          <a:p>
            <a:r>
              <a:rPr lang="en-US" b="1" dirty="0"/>
              <a:t>DNN (78.91%)</a:t>
            </a:r>
            <a:r>
              <a:rPr lang="en-US" dirty="0"/>
              <a:t> achieved the lowest accuracy because it lacks temporal memory, making it less suitable for sequential audio retrieval.</a:t>
            </a:r>
          </a:p>
          <a:p>
            <a:r>
              <a:rPr lang="en-US" dirty="0"/>
              <a:t>Overall, hierarchical modeling improved contextual understanding, leading to better retrieval performance.</a:t>
            </a:r>
          </a:p>
          <a:p>
            <a:endParaRPr lang="en-US" dirty="0"/>
          </a:p>
          <a:p>
            <a:endParaRPr lang="en-US" dirty="0"/>
          </a:p>
          <a:p>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17</a:t>
            </a:fld>
            <a:endParaRPr lang="en-IN"/>
          </a:p>
        </p:txBody>
      </p:sp>
    </p:spTree>
    <p:extLst>
      <p:ext uri="{BB962C8B-B14F-4D97-AF65-F5344CB8AC3E}">
        <p14:creationId xmlns:p14="http://schemas.microsoft.com/office/powerpoint/2010/main" val="3181789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developed an intelligent audio semantic search system using multiple deep learning models. Among all evaluated architectures, HRNN achieved the best overall performance due to its ability to capture both short-term and long-term dependencies. The findings confirm that hierarchical deep learning models are more effective for complex audio retrieval tasks.</a:t>
            </a:r>
            <a:endParaRPr lang="en-IN" dirty="0"/>
          </a:p>
        </p:txBody>
      </p:sp>
      <p:sp>
        <p:nvSpPr>
          <p:cNvPr id="4" name="Slide Number Placeholder 3"/>
          <p:cNvSpPr>
            <a:spLocks noGrp="1"/>
          </p:cNvSpPr>
          <p:nvPr>
            <p:ph type="sldNum" sz="quarter" idx="5"/>
          </p:nvPr>
        </p:nvSpPr>
        <p:spPr/>
        <p:txBody>
          <a:bodyPr/>
          <a:lstStyle/>
          <a:p>
            <a:fld id="{108429D6-5D93-4F53-AE23-8707771C7E24}" type="slidenum">
              <a:rPr lang="en-IN" smtClean="0"/>
              <a:t>18</a:t>
            </a:fld>
            <a:endParaRPr lang="en-IN"/>
          </a:p>
        </p:txBody>
      </p:sp>
    </p:spTree>
    <p:extLst>
      <p:ext uri="{BB962C8B-B14F-4D97-AF65-F5344CB8AC3E}">
        <p14:creationId xmlns:p14="http://schemas.microsoft.com/office/powerpoint/2010/main" val="1988636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0D57434-947B-4B3A-8D8C-A8CF1FCAF6DA}" type="datetime1">
              <a:rPr lang="en-US" smtClean="0"/>
              <a:t>2/22/2026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74415BB-74F8-4E95-B83E-F2C5D297B796}" type="datetime1">
              <a:rPr lang="en-US" smtClean="0"/>
              <a:t>2/22/2026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20F3697-6F82-4304-A047-D77991DCBEDD}" type="datetime1">
              <a:rPr lang="en-US" smtClean="0"/>
              <a:t>2/22/2026</a:t>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01CC5BB-56CD-46CC-AAC5-CAB671B738B6}" type="datetime1">
              <a:rPr lang="en-US" smtClean="0"/>
              <a:t>2/22/2026</a:t>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4572000"/>
          </a:xfrm>
          <a:custGeom>
            <a:avLst/>
            <a:gdLst/>
            <a:ahLst/>
            <a:cxnLst/>
            <a:rect l="l" t="t" r="r" b="b"/>
            <a:pathLst>
              <a:path w="12192000" h="4572000">
                <a:moveTo>
                  <a:pt x="12192000" y="0"/>
                </a:moveTo>
                <a:lnTo>
                  <a:pt x="0" y="0"/>
                </a:lnTo>
                <a:lnTo>
                  <a:pt x="0" y="4572000"/>
                </a:lnTo>
                <a:lnTo>
                  <a:pt x="12192000" y="4572000"/>
                </a:lnTo>
                <a:lnTo>
                  <a:pt x="12192000" y="0"/>
                </a:lnTo>
                <a:close/>
              </a:path>
            </a:pathLst>
          </a:custGeom>
          <a:solidFill>
            <a:srgbClr val="9CBDBC"/>
          </a:solidFill>
        </p:spPr>
        <p:txBody>
          <a:bodyPr wrap="square" lIns="0" tIns="0" rIns="0" bIns="0" rtlCol="0"/>
          <a:lstStyle/>
          <a:p>
            <a:endParaRPr/>
          </a:p>
        </p:txBody>
      </p:sp>
      <p:sp>
        <p:nvSpPr>
          <p:cNvPr id="17" name="bg object 17"/>
          <p:cNvSpPr/>
          <p:nvPr/>
        </p:nvSpPr>
        <p:spPr>
          <a:xfrm>
            <a:off x="8386826" y="5264150"/>
            <a:ext cx="0" cy="914400"/>
          </a:xfrm>
          <a:custGeom>
            <a:avLst/>
            <a:gdLst/>
            <a:ahLst/>
            <a:cxnLst/>
            <a:rect l="l" t="t" r="r" b="b"/>
            <a:pathLst>
              <a:path h="914400">
                <a:moveTo>
                  <a:pt x="0" y="914361"/>
                </a:moveTo>
                <a:lnTo>
                  <a:pt x="0" y="0"/>
                </a:lnTo>
              </a:path>
            </a:pathLst>
          </a:custGeom>
          <a:ln w="19046">
            <a:solidFill>
              <a:srgbClr val="9CBDBC"/>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F2357563-534B-46C9-9E4D-08FBE2881178}" type="datetime1">
              <a:rPr lang="en-US" smtClean="0"/>
              <a:t>2/22/2026</a:t>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7802" y="252984"/>
            <a:ext cx="11496395" cy="969721"/>
          </a:xfrm>
          <a:prstGeom prst="rect">
            <a:avLst/>
          </a:prstGeom>
        </p:spPr>
        <p:txBody>
          <a:bodyPr wrap="square" lIns="0" tIns="0" rIns="0" bIns="0">
            <a:spAutoFit/>
          </a:bodyPr>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710285" y="2681668"/>
            <a:ext cx="5745480" cy="409511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BD6AB0DC-3BF2-46DD-87E3-23CCBB8E94A4}" type="datetime1">
              <a:rPr lang="en-US" smtClean="0"/>
              <a:t>2/22/2026</a:t>
            </a:fld>
            <a:endParaRPr lang="en-US"/>
          </a:p>
        </p:txBody>
      </p:sp>
      <p:sp>
        <p:nvSpPr>
          <p:cNvPr id="6" name="Holder 6"/>
          <p:cNvSpPr>
            <a:spLocks noGrp="1"/>
          </p:cNvSpPr>
          <p:nvPr>
            <p:ph type="sldNum" sz="quarter" idx="7"/>
          </p:nvPr>
        </p:nvSpPr>
        <p:spPr>
          <a:xfrm>
            <a:off x="10892028" y="6501333"/>
            <a:ext cx="320675" cy="254000"/>
          </a:xfrm>
          <a:prstGeom prst="rect">
            <a:avLst/>
          </a:prstGeom>
        </p:spPr>
        <p:txBody>
          <a:bodyPr wrap="square" lIns="0" tIns="0" rIns="0" bIns="0">
            <a:spAutoFit/>
          </a:bodyPr>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609/aaai.v36i3.20160" TargetMode="External"/><Relationship Id="rId2" Type="http://schemas.openxmlformats.org/officeDocument/2006/relationships/hyperlink" Target="https://doi.org/10.3390/electronics1010116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5250891"/>
            <a:ext cx="6245860" cy="821379"/>
          </a:xfrm>
          <a:prstGeom prst="rect">
            <a:avLst/>
          </a:prstGeom>
        </p:spPr>
        <p:txBody>
          <a:bodyPr vert="horz" wrap="square" lIns="0" tIns="13335" rIns="0" bIns="0" rtlCol="0">
            <a:spAutoFit/>
          </a:bodyPr>
          <a:lstStyle/>
          <a:p>
            <a:pPr marL="12700">
              <a:lnSpc>
                <a:spcPts val="2160"/>
              </a:lnSpc>
              <a:spcBef>
                <a:spcPts val="105"/>
              </a:spcBef>
            </a:pPr>
            <a:r>
              <a:rPr lang="en-IN" sz="2000" b="1" spc="150" dirty="0">
                <a:solidFill>
                  <a:srgbClr val="001F5F"/>
                </a:solidFill>
                <a:latin typeface="Times New Roman"/>
                <a:cs typeface="Times New Roman"/>
              </a:rPr>
              <a:t>SAM KINSON , NAVANEETH KRISHNAN C. K</a:t>
            </a:r>
            <a:endParaRPr lang="en-IN" sz="2000" dirty="0">
              <a:latin typeface="Times New Roman"/>
              <a:cs typeface="Times New Roman"/>
            </a:endParaRPr>
          </a:p>
          <a:p>
            <a:pPr marL="12700">
              <a:lnSpc>
                <a:spcPts val="1920"/>
              </a:lnSpc>
            </a:pPr>
            <a:r>
              <a:rPr sz="2000" b="1" dirty="0">
                <a:solidFill>
                  <a:srgbClr val="CC0099"/>
                </a:solidFill>
                <a:latin typeface="Times New Roman"/>
                <a:cs typeface="Times New Roman"/>
              </a:rPr>
              <a:t>S</a:t>
            </a:r>
            <a:r>
              <a:rPr sz="2000" b="1" spc="-300" dirty="0">
                <a:solidFill>
                  <a:srgbClr val="CC0099"/>
                </a:solidFill>
                <a:latin typeface="Times New Roman"/>
                <a:cs typeface="Times New Roman"/>
              </a:rPr>
              <a:t> </a:t>
            </a:r>
            <a:r>
              <a:rPr sz="2000" b="1" dirty="0">
                <a:solidFill>
                  <a:srgbClr val="CC0099"/>
                </a:solidFill>
                <a:latin typeface="Times New Roman"/>
                <a:cs typeface="Times New Roman"/>
              </a:rPr>
              <a:t>6</a:t>
            </a:r>
            <a:r>
              <a:rPr sz="2000" b="1" spc="395" dirty="0">
                <a:solidFill>
                  <a:srgbClr val="CC0099"/>
                </a:solidFill>
                <a:latin typeface="Times New Roman"/>
                <a:cs typeface="Times New Roman"/>
              </a:rPr>
              <a:t> </a:t>
            </a:r>
            <a:r>
              <a:rPr sz="2000" b="1" spc="90" dirty="0">
                <a:solidFill>
                  <a:srgbClr val="CC0099"/>
                </a:solidFill>
                <a:latin typeface="Times New Roman"/>
                <a:cs typeface="Times New Roman"/>
              </a:rPr>
              <a:t>B.</a:t>
            </a:r>
            <a:r>
              <a:rPr sz="2000" b="1" spc="-300" dirty="0">
                <a:solidFill>
                  <a:srgbClr val="CC0099"/>
                </a:solidFill>
                <a:latin typeface="Times New Roman"/>
                <a:cs typeface="Times New Roman"/>
              </a:rPr>
              <a:t> </a:t>
            </a:r>
            <a:r>
              <a:rPr sz="2000" b="1" spc="110" dirty="0">
                <a:solidFill>
                  <a:srgbClr val="CC0099"/>
                </a:solidFill>
                <a:latin typeface="Times New Roman"/>
                <a:cs typeface="Times New Roman"/>
              </a:rPr>
              <a:t>VOC</a:t>
            </a:r>
            <a:r>
              <a:rPr sz="2000" b="1" spc="370" dirty="0">
                <a:solidFill>
                  <a:srgbClr val="CC0099"/>
                </a:solidFill>
                <a:latin typeface="Times New Roman"/>
                <a:cs typeface="Times New Roman"/>
              </a:rPr>
              <a:t> </a:t>
            </a:r>
            <a:r>
              <a:rPr sz="2000" b="1" spc="60" dirty="0">
                <a:solidFill>
                  <a:srgbClr val="CC0099"/>
                </a:solidFill>
                <a:latin typeface="Times New Roman"/>
                <a:cs typeface="Times New Roman"/>
              </a:rPr>
              <a:t>DATA</a:t>
            </a:r>
            <a:r>
              <a:rPr sz="2000" b="1" spc="275" dirty="0">
                <a:solidFill>
                  <a:srgbClr val="CC0099"/>
                </a:solidFill>
                <a:latin typeface="Times New Roman"/>
                <a:cs typeface="Times New Roman"/>
              </a:rPr>
              <a:t> </a:t>
            </a:r>
            <a:r>
              <a:rPr sz="2000" b="1" spc="150" dirty="0">
                <a:solidFill>
                  <a:srgbClr val="CC0099"/>
                </a:solidFill>
                <a:latin typeface="Times New Roman"/>
                <a:cs typeface="Times New Roman"/>
              </a:rPr>
              <a:t>SCIENCE</a:t>
            </a:r>
            <a:endParaRPr sz="2000" dirty="0">
              <a:latin typeface="Times New Roman"/>
              <a:cs typeface="Times New Roman"/>
            </a:endParaRPr>
          </a:p>
          <a:p>
            <a:pPr marL="12700">
              <a:lnSpc>
                <a:spcPts val="2160"/>
              </a:lnSpc>
            </a:pPr>
            <a:r>
              <a:rPr sz="2000" b="1" spc="140" dirty="0">
                <a:solidFill>
                  <a:srgbClr val="CC0099"/>
                </a:solidFill>
                <a:latin typeface="Times New Roman"/>
                <a:cs typeface="Times New Roman"/>
              </a:rPr>
              <a:t>REG.</a:t>
            </a:r>
            <a:r>
              <a:rPr sz="2000" b="1" spc="-300" dirty="0">
                <a:solidFill>
                  <a:srgbClr val="CC0099"/>
                </a:solidFill>
                <a:latin typeface="Times New Roman"/>
                <a:cs typeface="Times New Roman"/>
              </a:rPr>
              <a:t> </a:t>
            </a:r>
            <a:r>
              <a:rPr sz="2000" b="1" spc="95" dirty="0">
                <a:solidFill>
                  <a:srgbClr val="CC0099"/>
                </a:solidFill>
                <a:latin typeface="Times New Roman"/>
                <a:cs typeface="Times New Roman"/>
              </a:rPr>
              <a:t>NO</a:t>
            </a:r>
            <a:r>
              <a:rPr sz="2000" b="1" spc="360" dirty="0">
                <a:solidFill>
                  <a:srgbClr val="CC0099"/>
                </a:solidFill>
                <a:latin typeface="Times New Roman"/>
                <a:cs typeface="Times New Roman"/>
              </a:rPr>
              <a:t> </a:t>
            </a:r>
            <a:r>
              <a:rPr sz="2000" b="1" dirty="0">
                <a:solidFill>
                  <a:srgbClr val="CC0099"/>
                </a:solidFill>
                <a:latin typeface="Times New Roman"/>
                <a:cs typeface="Times New Roman"/>
              </a:rPr>
              <a:t>:</a:t>
            </a:r>
            <a:r>
              <a:rPr sz="2000" b="1" spc="-290" dirty="0">
                <a:solidFill>
                  <a:srgbClr val="CC0099"/>
                </a:solidFill>
                <a:latin typeface="Times New Roman"/>
                <a:cs typeface="Times New Roman"/>
              </a:rPr>
              <a:t> </a:t>
            </a:r>
            <a:r>
              <a:rPr sz="2000" b="1" spc="130" dirty="0">
                <a:solidFill>
                  <a:srgbClr val="CC0099"/>
                </a:solidFill>
                <a:latin typeface="Times New Roman"/>
                <a:cs typeface="Times New Roman"/>
              </a:rPr>
              <a:t>THA</a:t>
            </a:r>
            <a:r>
              <a:rPr lang="en-IN" sz="2000" b="1" spc="130" dirty="0">
                <a:solidFill>
                  <a:srgbClr val="CC0099"/>
                </a:solidFill>
                <a:latin typeface="Times New Roman"/>
                <a:cs typeface="Times New Roman"/>
              </a:rPr>
              <a:t>XBOA049 , THAXBOA047</a:t>
            </a:r>
            <a:endParaRPr sz="2000" dirty="0">
              <a:latin typeface="Times New Roman"/>
              <a:cs typeface="Times New Roman"/>
            </a:endParaRPr>
          </a:p>
        </p:txBody>
      </p:sp>
      <p:sp>
        <p:nvSpPr>
          <p:cNvPr id="4" name="object 4"/>
          <p:cNvSpPr txBox="1"/>
          <p:nvPr/>
        </p:nvSpPr>
        <p:spPr>
          <a:xfrm>
            <a:off x="2017902" y="1822507"/>
            <a:ext cx="8762365" cy="2680862"/>
          </a:xfrm>
          <a:prstGeom prst="rect">
            <a:avLst/>
          </a:prstGeom>
        </p:spPr>
        <p:txBody>
          <a:bodyPr vert="horz" wrap="square" lIns="0" tIns="51435" rIns="0" bIns="0" rtlCol="0">
            <a:spAutoFit/>
          </a:bodyPr>
          <a:lstStyle/>
          <a:p>
            <a:pPr marL="274955" algn="ctr">
              <a:lnSpc>
                <a:spcPct val="100000"/>
              </a:lnSpc>
              <a:spcBef>
                <a:spcPts val="405"/>
              </a:spcBef>
            </a:pPr>
            <a:r>
              <a:rPr sz="2400" b="1" dirty="0">
                <a:solidFill>
                  <a:srgbClr val="001F5F"/>
                </a:solidFill>
                <a:latin typeface="Times New Roman"/>
                <a:cs typeface="Times New Roman"/>
              </a:rPr>
              <a:t>TERM</a:t>
            </a:r>
            <a:r>
              <a:rPr sz="2400" b="1" spc="-90" dirty="0">
                <a:solidFill>
                  <a:srgbClr val="001F5F"/>
                </a:solidFill>
                <a:latin typeface="Times New Roman"/>
                <a:cs typeface="Times New Roman"/>
              </a:rPr>
              <a:t> </a:t>
            </a:r>
            <a:r>
              <a:rPr sz="2400" b="1" spc="-10" dirty="0">
                <a:solidFill>
                  <a:srgbClr val="001F5F"/>
                </a:solidFill>
                <a:latin typeface="Times New Roman"/>
                <a:cs typeface="Times New Roman"/>
              </a:rPr>
              <a:t>PAPER</a:t>
            </a:r>
            <a:r>
              <a:rPr sz="2400" b="1" spc="-90" dirty="0">
                <a:solidFill>
                  <a:srgbClr val="001F5F"/>
                </a:solidFill>
                <a:latin typeface="Times New Roman"/>
                <a:cs typeface="Times New Roman"/>
              </a:rPr>
              <a:t> </a:t>
            </a:r>
            <a:r>
              <a:rPr sz="2400" b="1" spc="-10" dirty="0">
                <a:solidFill>
                  <a:srgbClr val="001F5F"/>
                </a:solidFill>
                <a:latin typeface="Times New Roman"/>
                <a:cs typeface="Times New Roman"/>
              </a:rPr>
              <a:t>PRESENTATION</a:t>
            </a:r>
            <a:endParaRPr sz="2400" dirty="0">
              <a:latin typeface="Times New Roman"/>
              <a:cs typeface="Times New Roman"/>
            </a:endParaRPr>
          </a:p>
          <a:p>
            <a:pPr marL="266065" algn="ctr">
              <a:lnSpc>
                <a:spcPct val="100000"/>
              </a:lnSpc>
              <a:spcBef>
                <a:spcPts val="260"/>
              </a:spcBef>
            </a:pPr>
            <a:r>
              <a:rPr sz="2000" b="1" dirty="0">
                <a:solidFill>
                  <a:srgbClr val="006FC0"/>
                </a:solidFill>
                <a:latin typeface="Times New Roman"/>
                <a:cs typeface="Times New Roman"/>
              </a:rPr>
              <a:t>Date</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a:t>
            </a:r>
            <a:r>
              <a:rPr sz="2000" b="1" spc="5" dirty="0">
                <a:solidFill>
                  <a:srgbClr val="006FC0"/>
                </a:solidFill>
                <a:latin typeface="Times New Roman"/>
                <a:cs typeface="Times New Roman"/>
              </a:rPr>
              <a:t> </a:t>
            </a:r>
            <a:r>
              <a:rPr lang="en-IN" sz="2000" b="1" spc="-10" dirty="0">
                <a:solidFill>
                  <a:srgbClr val="006FC0"/>
                </a:solidFill>
                <a:latin typeface="Times New Roman"/>
                <a:cs typeface="Times New Roman"/>
              </a:rPr>
              <a:t>23</a:t>
            </a:r>
            <a:r>
              <a:rPr sz="2000" b="1" spc="-10" dirty="0">
                <a:solidFill>
                  <a:srgbClr val="006FC0"/>
                </a:solidFill>
                <a:latin typeface="Times New Roman"/>
                <a:cs typeface="Times New Roman"/>
              </a:rPr>
              <a:t>.</a:t>
            </a:r>
            <a:r>
              <a:rPr lang="en-IN" sz="2000" b="1" spc="-10" dirty="0">
                <a:solidFill>
                  <a:srgbClr val="006FC0"/>
                </a:solidFill>
                <a:latin typeface="Times New Roman"/>
                <a:cs typeface="Times New Roman"/>
              </a:rPr>
              <a:t>02</a:t>
            </a:r>
            <a:r>
              <a:rPr sz="2000" b="1" spc="-10" dirty="0">
                <a:solidFill>
                  <a:srgbClr val="006FC0"/>
                </a:solidFill>
                <a:latin typeface="Times New Roman"/>
                <a:cs typeface="Times New Roman"/>
              </a:rPr>
              <a:t>.202</a:t>
            </a:r>
            <a:r>
              <a:rPr lang="en-IN" sz="2000" b="1" spc="-10" dirty="0">
                <a:solidFill>
                  <a:srgbClr val="006FC0"/>
                </a:solidFill>
                <a:latin typeface="Times New Roman"/>
                <a:cs typeface="Times New Roman"/>
              </a:rPr>
              <a:t>6</a:t>
            </a:r>
            <a:endParaRPr sz="2000" dirty="0">
              <a:latin typeface="Times New Roman"/>
              <a:cs typeface="Times New Roman"/>
            </a:endParaRPr>
          </a:p>
          <a:p>
            <a:pPr>
              <a:lnSpc>
                <a:spcPct val="100000"/>
              </a:lnSpc>
              <a:spcBef>
                <a:spcPts val="1015"/>
              </a:spcBef>
            </a:pPr>
            <a:endParaRPr sz="2000" dirty="0">
              <a:latin typeface="Times New Roman"/>
              <a:cs typeface="Times New Roman"/>
            </a:endParaRPr>
          </a:p>
          <a:p>
            <a:pPr algn="ctr">
              <a:lnSpc>
                <a:spcPct val="100000"/>
              </a:lnSpc>
            </a:pPr>
            <a:r>
              <a:rPr lang="en-US" sz="3200" b="1" dirty="0">
                <a:solidFill>
                  <a:srgbClr val="C00000"/>
                </a:solidFill>
                <a:latin typeface="Georgia"/>
                <a:cs typeface="Georgia"/>
              </a:rPr>
              <a:t>Unified Semantic Search for Multimodal Messages Using AI-Based Retrieval Models</a:t>
            </a:r>
            <a:endParaRPr sz="3200" dirty="0">
              <a:latin typeface="Arial"/>
              <a:cs typeface="Arial"/>
            </a:endParaRPr>
          </a:p>
        </p:txBody>
      </p:sp>
      <p:sp>
        <p:nvSpPr>
          <p:cNvPr id="5" name="object 5"/>
          <p:cNvSpPr txBox="1"/>
          <p:nvPr/>
        </p:nvSpPr>
        <p:spPr>
          <a:xfrm>
            <a:off x="3126485" y="386841"/>
            <a:ext cx="6418580" cy="762635"/>
          </a:xfrm>
          <a:prstGeom prst="rect">
            <a:avLst/>
          </a:prstGeom>
        </p:spPr>
        <p:txBody>
          <a:bodyPr vert="horz" wrap="square" lIns="0" tIns="13335" rIns="0" bIns="0" rtlCol="0">
            <a:spAutoFit/>
          </a:bodyPr>
          <a:lstStyle/>
          <a:p>
            <a:pPr marL="12700">
              <a:lnSpc>
                <a:spcPct val="100000"/>
              </a:lnSpc>
              <a:spcBef>
                <a:spcPts val="105"/>
              </a:spcBef>
            </a:pPr>
            <a:r>
              <a:rPr sz="2000" b="1" spc="-45" dirty="0">
                <a:solidFill>
                  <a:srgbClr val="2D2B20"/>
                </a:solidFill>
                <a:latin typeface="Times New Roman"/>
                <a:cs typeface="Times New Roman"/>
              </a:rPr>
              <a:t>ST.</a:t>
            </a:r>
            <a:r>
              <a:rPr sz="2000" b="1" spc="-50" dirty="0">
                <a:solidFill>
                  <a:srgbClr val="2D2B20"/>
                </a:solidFill>
                <a:latin typeface="Times New Roman"/>
                <a:cs typeface="Times New Roman"/>
              </a:rPr>
              <a:t> </a:t>
            </a:r>
            <a:r>
              <a:rPr sz="2000" b="1" dirty="0">
                <a:solidFill>
                  <a:srgbClr val="2D2B20"/>
                </a:solidFill>
                <a:latin typeface="Times New Roman"/>
                <a:cs typeface="Times New Roman"/>
              </a:rPr>
              <a:t>THOMAS</a:t>
            </a:r>
            <a:r>
              <a:rPr sz="2000" b="1" spc="-40" dirty="0">
                <a:solidFill>
                  <a:srgbClr val="2D2B20"/>
                </a:solidFill>
                <a:latin typeface="Times New Roman"/>
                <a:cs typeface="Times New Roman"/>
              </a:rPr>
              <a:t> </a:t>
            </a:r>
            <a:r>
              <a:rPr sz="2000" b="1" dirty="0">
                <a:solidFill>
                  <a:srgbClr val="2D2B20"/>
                </a:solidFill>
                <a:latin typeface="Times New Roman"/>
                <a:cs typeface="Times New Roman"/>
              </a:rPr>
              <a:t>COLLEGE</a:t>
            </a:r>
            <a:r>
              <a:rPr sz="2000" b="1" spc="-5" dirty="0">
                <a:solidFill>
                  <a:srgbClr val="2D2B20"/>
                </a:solidFill>
                <a:latin typeface="Times New Roman"/>
                <a:cs typeface="Times New Roman"/>
              </a:rPr>
              <a:t> </a:t>
            </a:r>
            <a:r>
              <a:rPr sz="2000" b="1" spc="-10" dirty="0">
                <a:solidFill>
                  <a:srgbClr val="2D2B20"/>
                </a:solidFill>
                <a:latin typeface="Times New Roman"/>
                <a:cs typeface="Times New Roman"/>
              </a:rPr>
              <a:t>(AUTONOMOUS),</a:t>
            </a:r>
            <a:r>
              <a:rPr sz="2000" b="1" spc="-85" dirty="0">
                <a:solidFill>
                  <a:srgbClr val="2D2B20"/>
                </a:solidFill>
                <a:latin typeface="Times New Roman"/>
                <a:cs typeface="Times New Roman"/>
              </a:rPr>
              <a:t> </a:t>
            </a:r>
            <a:r>
              <a:rPr sz="2000" b="1" spc="-10" dirty="0">
                <a:solidFill>
                  <a:srgbClr val="2D2B20"/>
                </a:solidFill>
                <a:latin typeface="Times New Roman"/>
                <a:cs typeface="Times New Roman"/>
              </a:rPr>
              <a:t>THRISSUR</a:t>
            </a:r>
            <a:endParaRPr sz="2000">
              <a:latin typeface="Times New Roman"/>
              <a:cs typeface="Times New Roman"/>
            </a:endParaRPr>
          </a:p>
          <a:p>
            <a:pPr marL="1626235" marR="1618615" indent="313690">
              <a:lnSpc>
                <a:spcPct val="100000"/>
              </a:lnSpc>
              <a:spcBef>
                <a:spcPts val="35"/>
              </a:spcBef>
            </a:pPr>
            <a:r>
              <a:rPr sz="1400" b="1" dirty="0">
                <a:solidFill>
                  <a:srgbClr val="2D2B20"/>
                </a:solidFill>
                <a:latin typeface="Times New Roman"/>
                <a:cs typeface="Times New Roman"/>
              </a:rPr>
              <a:t>Affiliated</a:t>
            </a:r>
            <a:r>
              <a:rPr sz="1400" b="1" spc="-50" dirty="0">
                <a:solidFill>
                  <a:srgbClr val="2D2B20"/>
                </a:solidFill>
                <a:latin typeface="Times New Roman"/>
                <a:cs typeface="Times New Roman"/>
              </a:rPr>
              <a:t> </a:t>
            </a:r>
            <a:r>
              <a:rPr sz="1400" b="1" dirty="0">
                <a:solidFill>
                  <a:srgbClr val="2D2B20"/>
                </a:solidFill>
                <a:latin typeface="Times New Roman"/>
                <a:cs typeface="Times New Roman"/>
              </a:rPr>
              <a:t>to</a:t>
            </a:r>
            <a:r>
              <a:rPr sz="1400" b="1" spc="-20" dirty="0">
                <a:solidFill>
                  <a:srgbClr val="2D2B20"/>
                </a:solidFill>
                <a:latin typeface="Times New Roman"/>
                <a:cs typeface="Times New Roman"/>
              </a:rPr>
              <a:t> </a:t>
            </a:r>
            <a:r>
              <a:rPr sz="1400" b="1" dirty="0">
                <a:solidFill>
                  <a:srgbClr val="2D2B20"/>
                </a:solidFill>
                <a:latin typeface="Times New Roman"/>
                <a:cs typeface="Times New Roman"/>
              </a:rPr>
              <a:t>University</a:t>
            </a:r>
            <a:r>
              <a:rPr sz="1400" b="1" spc="-45" dirty="0">
                <a:solidFill>
                  <a:srgbClr val="2D2B20"/>
                </a:solidFill>
                <a:latin typeface="Times New Roman"/>
                <a:cs typeface="Times New Roman"/>
              </a:rPr>
              <a:t> </a:t>
            </a:r>
            <a:r>
              <a:rPr sz="1400" b="1" dirty="0">
                <a:solidFill>
                  <a:srgbClr val="2D2B20"/>
                </a:solidFill>
                <a:latin typeface="Times New Roman"/>
                <a:cs typeface="Times New Roman"/>
              </a:rPr>
              <a:t>of</a:t>
            </a:r>
            <a:r>
              <a:rPr sz="1400" b="1" spc="-20" dirty="0">
                <a:solidFill>
                  <a:srgbClr val="2D2B20"/>
                </a:solidFill>
                <a:latin typeface="Times New Roman"/>
                <a:cs typeface="Times New Roman"/>
              </a:rPr>
              <a:t> </a:t>
            </a:r>
            <a:r>
              <a:rPr sz="1400" b="1" spc="-10" dirty="0">
                <a:solidFill>
                  <a:srgbClr val="2D2B20"/>
                </a:solidFill>
                <a:latin typeface="Times New Roman"/>
                <a:cs typeface="Times New Roman"/>
              </a:rPr>
              <a:t>Calicut </a:t>
            </a:r>
            <a:r>
              <a:rPr sz="1400" b="1" dirty="0">
                <a:solidFill>
                  <a:srgbClr val="2D2B20"/>
                </a:solidFill>
                <a:latin typeface="Times New Roman"/>
                <a:cs typeface="Times New Roman"/>
              </a:rPr>
              <a:t>Nationally</a:t>
            </a:r>
            <a:r>
              <a:rPr sz="1400" b="1" spc="-20" dirty="0">
                <a:solidFill>
                  <a:srgbClr val="2D2B20"/>
                </a:solidFill>
                <a:latin typeface="Times New Roman"/>
                <a:cs typeface="Times New Roman"/>
              </a:rPr>
              <a:t> </a:t>
            </a:r>
            <a:r>
              <a:rPr sz="1400" b="1" spc="-10" dirty="0">
                <a:solidFill>
                  <a:srgbClr val="2D2B20"/>
                </a:solidFill>
                <a:latin typeface="Times New Roman"/>
                <a:cs typeface="Times New Roman"/>
              </a:rPr>
              <a:t>reaccredited </a:t>
            </a:r>
            <a:r>
              <a:rPr sz="1400" b="1" dirty="0">
                <a:solidFill>
                  <a:srgbClr val="2D2B20"/>
                </a:solidFill>
                <a:latin typeface="Times New Roman"/>
                <a:cs typeface="Times New Roman"/>
              </a:rPr>
              <a:t>with</a:t>
            </a:r>
            <a:r>
              <a:rPr sz="1400" b="1" spc="-25" dirty="0">
                <a:solidFill>
                  <a:srgbClr val="2D2B20"/>
                </a:solidFill>
                <a:latin typeface="Times New Roman"/>
                <a:cs typeface="Times New Roman"/>
              </a:rPr>
              <a:t> </a:t>
            </a:r>
            <a:r>
              <a:rPr sz="1400" b="1" spc="-10" dirty="0">
                <a:solidFill>
                  <a:srgbClr val="2D2B20"/>
                </a:solidFill>
                <a:latin typeface="Times New Roman"/>
                <a:cs typeface="Times New Roman"/>
              </a:rPr>
              <a:t>‘A++’</a:t>
            </a:r>
            <a:r>
              <a:rPr sz="1400" b="1" spc="-114" dirty="0">
                <a:solidFill>
                  <a:srgbClr val="2D2B20"/>
                </a:solidFill>
                <a:latin typeface="Times New Roman"/>
                <a:cs typeface="Times New Roman"/>
              </a:rPr>
              <a:t> </a:t>
            </a:r>
            <a:r>
              <a:rPr sz="1400" b="1" spc="-10" dirty="0">
                <a:solidFill>
                  <a:srgbClr val="2D2B20"/>
                </a:solidFill>
                <a:latin typeface="Times New Roman"/>
                <a:cs typeface="Times New Roman"/>
              </a:rPr>
              <a:t>Grade</a:t>
            </a:r>
            <a:endParaRPr sz="1400">
              <a:latin typeface="Times New Roman"/>
              <a:cs typeface="Times New Roman"/>
            </a:endParaRPr>
          </a:p>
        </p:txBody>
      </p:sp>
      <p:pic>
        <p:nvPicPr>
          <p:cNvPr id="6" name="object 6"/>
          <p:cNvPicPr/>
          <p:nvPr/>
        </p:nvPicPr>
        <p:blipFill>
          <a:blip r:embed="rId2" cstate="print"/>
          <a:stretch>
            <a:fillRect/>
          </a:stretch>
        </p:blipFill>
        <p:spPr>
          <a:xfrm>
            <a:off x="2097023" y="182435"/>
            <a:ext cx="1027137" cy="1169225"/>
          </a:xfrm>
          <a:prstGeom prst="rect">
            <a:avLst/>
          </a:prstGeom>
        </p:spPr>
      </p:pic>
      <p:sp>
        <p:nvSpPr>
          <p:cNvPr id="7" name="object 7"/>
          <p:cNvSpPr txBox="1"/>
          <p:nvPr/>
        </p:nvSpPr>
        <p:spPr>
          <a:xfrm>
            <a:off x="10917428" y="6476187"/>
            <a:ext cx="90805" cy="239395"/>
          </a:xfrm>
          <a:prstGeom prst="rect">
            <a:avLst/>
          </a:prstGeom>
        </p:spPr>
        <p:txBody>
          <a:bodyPr vert="horz" wrap="square" lIns="0" tIns="12700" rIns="0" bIns="0" rtlCol="0">
            <a:spAutoFit/>
          </a:bodyPr>
          <a:lstStyle/>
          <a:p>
            <a:pPr marL="12700">
              <a:lnSpc>
                <a:spcPct val="100000"/>
              </a:lnSpc>
              <a:spcBef>
                <a:spcPts val="100"/>
              </a:spcBef>
            </a:pPr>
            <a:r>
              <a:rPr sz="1400" spc="-180" dirty="0">
                <a:solidFill>
                  <a:srgbClr val="464233"/>
                </a:solidFill>
                <a:latin typeface="Trebuchet MS"/>
                <a:cs typeface="Trebuchet MS"/>
              </a:rPr>
              <a:t>1</a:t>
            </a:r>
            <a:endParaRPr sz="1400">
              <a:latin typeface="Trebuchet MS"/>
              <a:cs typeface="Trebuchet MS"/>
            </a:endParaRPr>
          </a:p>
        </p:txBody>
      </p:sp>
      <p:sp>
        <p:nvSpPr>
          <p:cNvPr id="8" name="Slide Number Placeholder 7">
            <a:extLst>
              <a:ext uri="{FF2B5EF4-FFF2-40B4-BE49-F238E27FC236}">
                <a16:creationId xmlns:a16="http://schemas.microsoft.com/office/drawing/2014/main" id="{C57C8F0E-DB11-6AE4-3EFC-331DDA04D9D6}"/>
              </a:ext>
            </a:extLst>
          </p:cNvPr>
          <p:cNvSpPr>
            <a:spLocks noGrp="1"/>
          </p:cNvSpPr>
          <p:nvPr>
            <p:ph type="sldNum" sz="quarter" idx="7"/>
          </p:nvPr>
        </p:nvSpPr>
        <p:spPr/>
        <p:txBody>
          <a:bodyPr/>
          <a:lstStyle/>
          <a:p>
            <a:pPr marL="38100">
              <a:lnSpc>
                <a:spcPts val="1810"/>
              </a:lnSpc>
            </a:pPr>
            <a:fld id="{81D60167-4931-47E6-BA6A-407CBD079E47}" type="slidenum">
              <a:rPr lang="en-IN" spc="-50" smtClean="0"/>
              <a:t>1</a:t>
            </a:fld>
            <a:endParaRPr lang="en-IN" spc="-50" dirty="0"/>
          </a:p>
        </p:txBody>
      </p:sp>
      <p:sp>
        <p:nvSpPr>
          <p:cNvPr id="11" name="TextBox 10">
            <a:extLst>
              <a:ext uri="{FF2B5EF4-FFF2-40B4-BE49-F238E27FC236}">
                <a16:creationId xmlns:a16="http://schemas.microsoft.com/office/drawing/2014/main" id="{B569981F-3D8C-395D-5646-97465F457E01}"/>
              </a:ext>
            </a:extLst>
          </p:cNvPr>
          <p:cNvSpPr txBox="1"/>
          <p:nvPr/>
        </p:nvSpPr>
        <p:spPr>
          <a:xfrm>
            <a:off x="8462818" y="5037277"/>
            <a:ext cx="2509982" cy="404021"/>
          </a:xfrm>
          <a:prstGeom prst="rect">
            <a:avLst/>
          </a:prstGeom>
          <a:noFill/>
        </p:spPr>
        <p:txBody>
          <a:bodyPr wrap="none" rtlCol="0">
            <a:spAutoFit/>
          </a:bodyPr>
          <a:lstStyle/>
          <a:p>
            <a:pPr marL="76200" marR="5080" indent="130810" algn="just">
              <a:lnSpc>
                <a:spcPct val="109400"/>
              </a:lnSpc>
              <a:spcBef>
                <a:spcPts val="100"/>
              </a:spcBef>
            </a:pPr>
            <a:r>
              <a:rPr lang="en-US" sz="2000" b="1" spc="-45" dirty="0">
                <a:solidFill>
                  <a:srgbClr val="001F5F"/>
                </a:solidFill>
                <a:latin typeface="Times New Roman"/>
                <a:cs typeface="Times New Roman"/>
              </a:rPr>
              <a:t>Mr.</a:t>
            </a:r>
            <a:r>
              <a:rPr lang="en-US" sz="2000" b="1" spc="-50" dirty="0">
                <a:solidFill>
                  <a:srgbClr val="001F5F"/>
                </a:solidFill>
                <a:latin typeface="Times New Roman"/>
                <a:cs typeface="Times New Roman"/>
              </a:rPr>
              <a:t> </a:t>
            </a:r>
            <a:r>
              <a:rPr lang="en-US" sz="2000" b="1" dirty="0">
                <a:solidFill>
                  <a:srgbClr val="001F5F"/>
                </a:solidFill>
                <a:latin typeface="Times New Roman"/>
                <a:cs typeface="Times New Roman"/>
              </a:rPr>
              <a:t>Rejin</a:t>
            </a:r>
            <a:r>
              <a:rPr lang="en-US" sz="2000" b="1" spc="-90" dirty="0">
                <a:solidFill>
                  <a:srgbClr val="001F5F"/>
                </a:solidFill>
                <a:latin typeface="Times New Roman"/>
                <a:cs typeface="Times New Roman"/>
              </a:rPr>
              <a:t> </a:t>
            </a:r>
            <a:r>
              <a:rPr lang="en-US" sz="2000" b="1" spc="-25" dirty="0">
                <a:solidFill>
                  <a:srgbClr val="001F5F"/>
                </a:solidFill>
                <a:latin typeface="Times New Roman"/>
                <a:cs typeface="Times New Roman"/>
              </a:rPr>
              <a:t>Varghese</a:t>
            </a:r>
          </a:p>
        </p:txBody>
      </p:sp>
      <p:sp>
        <p:nvSpPr>
          <p:cNvPr id="13" name="TextBox 12">
            <a:extLst>
              <a:ext uri="{FF2B5EF4-FFF2-40B4-BE49-F238E27FC236}">
                <a16:creationId xmlns:a16="http://schemas.microsoft.com/office/drawing/2014/main" id="{66A840C6-E41C-6117-EC97-F2F7EE00B469}"/>
              </a:ext>
            </a:extLst>
          </p:cNvPr>
          <p:cNvSpPr txBox="1"/>
          <p:nvPr/>
        </p:nvSpPr>
        <p:spPr>
          <a:xfrm>
            <a:off x="6705600" y="5310098"/>
            <a:ext cx="6096000" cy="966418"/>
          </a:xfrm>
          <a:prstGeom prst="rect">
            <a:avLst/>
          </a:prstGeom>
          <a:noFill/>
        </p:spPr>
        <p:txBody>
          <a:bodyPr wrap="square">
            <a:spAutoFit/>
          </a:bodyPr>
          <a:lstStyle/>
          <a:p>
            <a:pPr marL="76200" marR="5080" indent="130810" algn="ctr">
              <a:lnSpc>
                <a:spcPct val="109400"/>
              </a:lnSpc>
              <a:spcBef>
                <a:spcPts val="100"/>
              </a:spcBef>
            </a:pPr>
            <a:r>
              <a:rPr lang="en-US" sz="2000" b="1" dirty="0">
                <a:solidFill>
                  <a:srgbClr val="CC0099"/>
                </a:solidFill>
                <a:latin typeface="Times New Roman"/>
                <a:cs typeface="Times New Roman"/>
              </a:rPr>
              <a:t>Research</a:t>
            </a:r>
            <a:r>
              <a:rPr lang="en-US" sz="2000" b="1" spc="-95" dirty="0">
                <a:solidFill>
                  <a:srgbClr val="CC0099"/>
                </a:solidFill>
                <a:latin typeface="Times New Roman"/>
                <a:cs typeface="Times New Roman"/>
              </a:rPr>
              <a:t> </a:t>
            </a:r>
            <a:r>
              <a:rPr lang="en-US" sz="2000" b="1" spc="-10" dirty="0">
                <a:solidFill>
                  <a:srgbClr val="CC0099"/>
                </a:solidFill>
                <a:latin typeface="Times New Roman"/>
                <a:cs typeface="Times New Roman"/>
              </a:rPr>
              <a:t>Supervisor</a:t>
            </a:r>
            <a:endParaRPr lang="en-US" sz="2000" dirty="0">
              <a:latin typeface="Times New Roman"/>
              <a:cs typeface="Times New Roman"/>
            </a:endParaRPr>
          </a:p>
          <a:p>
            <a:pPr marR="5080" algn="ctr">
              <a:lnSpc>
                <a:spcPts val="2145"/>
              </a:lnSpc>
              <a:spcBef>
                <a:spcPts val="35"/>
              </a:spcBef>
            </a:pPr>
            <a:r>
              <a:rPr lang="en-US" sz="2000" b="1" spc="-25" dirty="0">
                <a:solidFill>
                  <a:srgbClr val="CC0099"/>
                </a:solidFill>
                <a:latin typeface="Times New Roman"/>
                <a:cs typeface="Times New Roman"/>
              </a:rPr>
              <a:t>       Asst. Professor &amp; HOD</a:t>
            </a:r>
            <a:endParaRPr lang="en-US" sz="2000" dirty="0">
              <a:latin typeface="Times New Roman"/>
              <a:cs typeface="Times New Roman"/>
            </a:endParaRPr>
          </a:p>
          <a:p>
            <a:pPr marL="12700" algn="ctr">
              <a:lnSpc>
                <a:spcPts val="2145"/>
              </a:lnSpc>
            </a:pPr>
            <a:r>
              <a:rPr lang="en-US" sz="2000" b="1" dirty="0">
                <a:solidFill>
                  <a:srgbClr val="CC0099"/>
                </a:solidFill>
                <a:latin typeface="Times New Roman"/>
                <a:cs typeface="Times New Roman"/>
              </a:rPr>
              <a:t>    Dept.</a:t>
            </a:r>
            <a:r>
              <a:rPr lang="en-US" sz="2000" b="1" spc="-35" dirty="0">
                <a:solidFill>
                  <a:srgbClr val="CC0099"/>
                </a:solidFill>
                <a:latin typeface="Times New Roman"/>
                <a:cs typeface="Times New Roman"/>
              </a:rPr>
              <a:t> </a:t>
            </a:r>
            <a:r>
              <a:rPr lang="en-US" sz="2000" b="1" dirty="0">
                <a:solidFill>
                  <a:srgbClr val="CC0099"/>
                </a:solidFill>
                <a:latin typeface="Times New Roman"/>
                <a:cs typeface="Times New Roman"/>
              </a:rPr>
              <a:t>of</a:t>
            </a:r>
            <a:r>
              <a:rPr lang="en-US" sz="2000" b="1" spc="-30" dirty="0">
                <a:solidFill>
                  <a:srgbClr val="CC0099"/>
                </a:solidFill>
                <a:latin typeface="Times New Roman"/>
                <a:cs typeface="Times New Roman"/>
              </a:rPr>
              <a:t> </a:t>
            </a:r>
            <a:r>
              <a:rPr lang="en-US" sz="2000" b="1" dirty="0">
                <a:solidFill>
                  <a:srgbClr val="CC0099"/>
                </a:solidFill>
                <a:latin typeface="Times New Roman"/>
                <a:cs typeface="Times New Roman"/>
              </a:rPr>
              <a:t>Data</a:t>
            </a:r>
            <a:r>
              <a:rPr lang="en-US" sz="2000" b="1" spc="-25" dirty="0">
                <a:solidFill>
                  <a:srgbClr val="CC0099"/>
                </a:solidFill>
                <a:latin typeface="Times New Roman"/>
                <a:cs typeface="Times New Roman"/>
              </a:rPr>
              <a:t> </a:t>
            </a:r>
            <a:r>
              <a:rPr lang="en-US" sz="2000" b="1" spc="-10" dirty="0">
                <a:solidFill>
                  <a:srgbClr val="CC0099"/>
                </a:solidFill>
                <a:latin typeface="Times New Roman"/>
                <a:cs typeface="Times New Roman"/>
              </a:rPr>
              <a:t>Science</a:t>
            </a:r>
            <a:endParaRPr lang="en-US"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2</a:t>
            </a:fld>
            <a:endParaRPr spc="-50" dirty="0"/>
          </a:p>
        </p:txBody>
      </p:sp>
      <p:sp>
        <p:nvSpPr>
          <p:cNvPr id="2" name="object 2"/>
          <p:cNvSpPr txBox="1"/>
          <p:nvPr/>
        </p:nvSpPr>
        <p:spPr>
          <a:xfrm>
            <a:off x="916939" y="1066800"/>
            <a:ext cx="6703061" cy="3854901"/>
          </a:xfrm>
          <a:prstGeom prst="rect">
            <a:avLst/>
          </a:prstGeom>
        </p:spPr>
        <p:txBody>
          <a:bodyPr vert="horz" wrap="square" lIns="0" tIns="157480" rIns="0" bIns="0" rtlCol="0">
            <a:spAutoFit/>
          </a:bodyPr>
          <a:lstStyle/>
          <a:p>
            <a:pPr marL="234315" indent="-223520">
              <a:lnSpc>
                <a:spcPct val="100000"/>
              </a:lnSpc>
              <a:spcBef>
                <a:spcPts val="1240"/>
              </a:spcBef>
              <a:buClr>
                <a:srgbClr val="9CBDBC"/>
              </a:buClr>
              <a:buSzPct val="95454"/>
              <a:buFont typeface="Wingdings"/>
              <a:buChar char=""/>
              <a:tabLst>
                <a:tab pos="234315" algn="l"/>
              </a:tabLst>
            </a:pPr>
            <a:r>
              <a:rPr sz="2200" spc="-10" dirty="0">
                <a:latin typeface="Times New Roman"/>
                <a:cs typeface="Times New Roman"/>
              </a:rPr>
              <a:t>Abstract</a:t>
            </a:r>
            <a:endParaRPr sz="2200" dirty="0">
              <a:latin typeface="Times New Roman"/>
              <a:cs typeface="Times New Roman"/>
            </a:endParaRPr>
          </a:p>
          <a:p>
            <a:pPr marL="234315" indent="-223520">
              <a:lnSpc>
                <a:spcPct val="100000"/>
              </a:lnSpc>
              <a:spcBef>
                <a:spcPts val="1140"/>
              </a:spcBef>
              <a:buClr>
                <a:srgbClr val="9CBDBC"/>
              </a:buClr>
              <a:buSzPct val="95454"/>
              <a:buFont typeface="Wingdings"/>
              <a:buChar char=""/>
              <a:tabLst>
                <a:tab pos="234315" algn="l"/>
              </a:tabLst>
            </a:pPr>
            <a:r>
              <a:rPr sz="2200" spc="-10" dirty="0">
                <a:latin typeface="Times New Roman"/>
                <a:cs typeface="Times New Roman"/>
              </a:rPr>
              <a:t>Introduction</a:t>
            </a:r>
            <a:endParaRPr sz="2200" dirty="0">
              <a:latin typeface="Times New Roman"/>
              <a:cs typeface="Times New Roman"/>
            </a:endParaRPr>
          </a:p>
          <a:p>
            <a:pPr marL="234315" indent="-223520">
              <a:lnSpc>
                <a:spcPct val="100000"/>
              </a:lnSpc>
              <a:spcBef>
                <a:spcPts val="1140"/>
              </a:spcBef>
              <a:buClr>
                <a:srgbClr val="9CBDBC"/>
              </a:buClr>
              <a:buSzPct val="95454"/>
              <a:buFont typeface="Wingdings"/>
              <a:buChar char=""/>
              <a:tabLst>
                <a:tab pos="234315" algn="l"/>
              </a:tabLst>
            </a:pPr>
            <a:r>
              <a:rPr sz="2200" dirty="0">
                <a:latin typeface="Times New Roman"/>
                <a:cs typeface="Times New Roman"/>
              </a:rPr>
              <a:t>Dataset</a:t>
            </a:r>
            <a:r>
              <a:rPr sz="2200" spc="-20" dirty="0">
                <a:latin typeface="Times New Roman"/>
                <a:cs typeface="Times New Roman"/>
              </a:rPr>
              <a:t> </a:t>
            </a:r>
            <a:r>
              <a:rPr sz="2200" spc="-10" dirty="0">
                <a:latin typeface="Times New Roman"/>
                <a:cs typeface="Times New Roman"/>
              </a:rPr>
              <a:t>Description</a:t>
            </a:r>
            <a:endParaRPr lang="en-US" sz="2200" spc="-10" dirty="0">
              <a:latin typeface="Times New Roman"/>
              <a:cs typeface="Times New Roman"/>
            </a:endParaRPr>
          </a:p>
          <a:p>
            <a:pPr marL="234315" indent="-223520">
              <a:spcBef>
                <a:spcPts val="1140"/>
              </a:spcBef>
              <a:buClr>
                <a:srgbClr val="9CBDBC"/>
              </a:buClr>
              <a:buSzPct val="95454"/>
              <a:buFont typeface="Wingdings"/>
              <a:buChar char=""/>
              <a:tabLst>
                <a:tab pos="234315" algn="l"/>
              </a:tabLst>
            </a:pPr>
            <a:r>
              <a:rPr lang="en-IN" sz="2200" dirty="0">
                <a:latin typeface="Times New Roman"/>
                <a:cs typeface="Times New Roman"/>
              </a:rPr>
              <a:t>Literature</a:t>
            </a:r>
            <a:r>
              <a:rPr lang="en-IN" sz="2200" spc="-75" dirty="0">
                <a:latin typeface="Times New Roman"/>
                <a:cs typeface="Times New Roman"/>
              </a:rPr>
              <a:t> </a:t>
            </a:r>
            <a:r>
              <a:rPr lang="en-IN" sz="2200" spc="-10" dirty="0">
                <a:latin typeface="Times New Roman"/>
                <a:cs typeface="Times New Roman"/>
              </a:rPr>
              <a:t>Review</a:t>
            </a:r>
          </a:p>
          <a:p>
            <a:pPr marL="234315" indent="-223520">
              <a:spcBef>
                <a:spcPts val="1140"/>
              </a:spcBef>
              <a:buClr>
                <a:srgbClr val="9CBDBC"/>
              </a:buClr>
              <a:buSzPct val="95454"/>
              <a:buFont typeface="Wingdings"/>
              <a:buChar char=""/>
              <a:tabLst>
                <a:tab pos="234315" algn="l"/>
              </a:tabLst>
            </a:pPr>
            <a:r>
              <a:rPr lang="en-IN" sz="2200" spc="-10" dirty="0">
                <a:latin typeface="Times New Roman"/>
                <a:cs typeface="Times New Roman"/>
              </a:rPr>
              <a:t>Result and Discussion</a:t>
            </a:r>
            <a:endParaRPr lang="en-US" sz="2200" spc="-10" dirty="0">
              <a:latin typeface="Times New Roman"/>
              <a:cs typeface="Times New Roman"/>
            </a:endParaRPr>
          </a:p>
          <a:p>
            <a:pPr marL="234315" indent="-223520">
              <a:spcBef>
                <a:spcPts val="1140"/>
              </a:spcBef>
              <a:buClr>
                <a:srgbClr val="9CBDBC"/>
              </a:buClr>
              <a:buSzPct val="95454"/>
              <a:buFont typeface="Wingdings"/>
              <a:buChar char=""/>
              <a:tabLst>
                <a:tab pos="234315" algn="l"/>
              </a:tabLst>
            </a:pPr>
            <a:r>
              <a:rPr lang="en-US" sz="2200" spc="-10" dirty="0">
                <a:latin typeface="Times New Roman"/>
                <a:cs typeface="Times New Roman"/>
              </a:rPr>
              <a:t>Conclusion</a:t>
            </a:r>
          </a:p>
          <a:p>
            <a:pPr marL="234315" indent="-223520">
              <a:spcBef>
                <a:spcPts val="1140"/>
              </a:spcBef>
              <a:buClr>
                <a:srgbClr val="9CBDBC"/>
              </a:buClr>
              <a:buSzPct val="95454"/>
              <a:buFont typeface="Wingdings"/>
              <a:buChar char=""/>
              <a:tabLst>
                <a:tab pos="234315" algn="l"/>
              </a:tabLst>
            </a:pPr>
            <a:r>
              <a:rPr lang="en-US" sz="2200" spc="-10" dirty="0">
                <a:latin typeface="Times New Roman"/>
                <a:cs typeface="Times New Roman"/>
              </a:rPr>
              <a:t>Output</a:t>
            </a:r>
            <a:endParaRPr sz="2200" dirty="0">
              <a:latin typeface="Times New Roman"/>
              <a:cs typeface="Times New Roman"/>
            </a:endParaRPr>
          </a:p>
          <a:p>
            <a:pPr marL="234315" indent="-223520">
              <a:lnSpc>
                <a:spcPct val="100000"/>
              </a:lnSpc>
              <a:spcBef>
                <a:spcPts val="1130"/>
              </a:spcBef>
              <a:buClr>
                <a:srgbClr val="9CBDBC"/>
              </a:buClr>
              <a:buSzPct val="95454"/>
              <a:buFont typeface="Wingdings"/>
              <a:buChar char=""/>
              <a:tabLst>
                <a:tab pos="234315" algn="l"/>
              </a:tabLst>
            </a:pPr>
            <a:r>
              <a:rPr sz="2200" spc="-10" dirty="0">
                <a:latin typeface="Times New Roman"/>
                <a:cs typeface="Times New Roman"/>
              </a:rPr>
              <a:t>References</a:t>
            </a:r>
            <a:endParaRPr sz="2200" dirty="0">
              <a:latin typeface="Times New Roman"/>
              <a:cs typeface="Times New Roman"/>
            </a:endParaRPr>
          </a:p>
        </p:txBody>
      </p:sp>
      <p:sp>
        <p:nvSpPr>
          <p:cNvPr id="3" name="object 3"/>
          <p:cNvSpPr txBox="1">
            <a:spLocks noGrp="1"/>
          </p:cNvSpPr>
          <p:nvPr>
            <p:ph type="title"/>
          </p:nvPr>
        </p:nvSpPr>
        <p:spPr>
          <a:xfrm>
            <a:off x="838200" y="282575"/>
            <a:ext cx="1100582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3</a:t>
            </a:fld>
            <a:endParaRPr spc="-50" dirty="0"/>
          </a:p>
        </p:txBody>
      </p:sp>
      <p:sp>
        <p:nvSpPr>
          <p:cNvPr id="2" name="object 2"/>
          <p:cNvSpPr txBox="1">
            <a:spLocks noGrp="1"/>
          </p:cNvSpPr>
          <p:nvPr>
            <p:ph type="title"/>
          </p:nvPr>
        </p:nvSpPr>
        <p:spPr>
          <a:xfrm>
            <a:off x="631367" y="278880"/>
            <a:ext cx="11212830" cy="787920"/>
          </a:xfrm>
          <a:prstGeom prst="rect">
            <a:avLst/>
          </a:prstGeom>
          <a:solidFill>
            <a:srgbClr val="689C9A"/>
          </a:solidFill>
          <a:ln w="15872">
            <a:solidFill>
              <a:srgbClr val="454330"/>
            </a:solidFill>
          </a:ln>
        </p:spPr>
        <p:txBody>
          <a:bodyPr vert="horz" wrap="square" lIns="0" tIns="190500" rIns="0" bIns="208800" rtlCol="0">
            <a:spAutoFit/>
          </a:bodyPr>
          <a:lstStyle/>
          <a:p>
            <a:pPr algn="ctr">
              <a:lnSpc>
                <a:spcPct val="100000"/>
              </a:lnSpc>
              <a:spcBef>
                <a:spcPts val="1500"/>
              </a:spcBef>
            </a:pPr>
            <a:r>
              <a:rPr spc="-10" dirty="0"/>
              <a:t>ABSTRACT</a:t>
            </a:r>
          </a:p>
        </p:txBody>
      </p:sp>
      <p:sp>
        <p:nvSpPr>
          <p:cNvPr id="3" name="object 3"/>
          <p:cNvSpPr txBox="1"/>
          <p:nvPr/>
        </p:nvSpPr>
        <p:spPr>
          <a:xfrm>
            <a:off x="609601" y="1158110"/>
            <a:ext cx="11212831" cy="4937890"/>
          </a:xfrm>
          <a:prstGeom prst="rect">
            <a:avLst/>
          </a:prstGeom>
        </p:spPr>
        <p:txBody>
          <a:bodyPr vert="horz" wrap="square" lIns="0" tIns="13335" rIns="0" bIns="0"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Modern digital communication platforms enable users to exchange numerous voice notes and audio messages. However, current messaging systems mainly support keyword-based text search and lack semantic search within audio content. As a result, retrieving previously shared voice messages becomes difficult, especially when users do not remember the exact keywords.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study proposes an AI-based Intelligent Audio Semantic Search System for accurate voice note retrieval in conversational platforms. The framework uses deep learning models such as DNN, RNN, LSTM, GRU, and HRNN to capture sequential patterns, contextual relationships, and hierarchical structures in audio data. Audio signals are converted into features like MFCC and spectrograms, processed to extract meaningful representations, and mapped into a semantic embedding space to enable similarity-based audio retrieval.</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By integrating temporal modeling, hierarchical learning, and deep feature extraction, the system improves search accuracy, contextual relevance, and retrieval efficiency. The proposed approach advances intelligent voice-based systems by enabling semantic audio search, offering significant improvements over traditional keyword-based retrieval methods and supporting next-generation voice-enabled communication platforms.</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marL="635" algn="ctr">
              <a:lnSpc>
                <a:spcPct val="100000"/>
              </a:lnSpc>
              <a:spcBef>
                <a:spcPts val="1500"/>
              </a:spcBef>
            </a:pPr>
            <a:r>
              <a:rPr spc="-10" dirty="0"/>
              <a:t>INTRODUCTION</a:t>
            </a:r>
          </a:p>
        </p:txBody>
      </p:sp>
      <p:sp>
        <p:nvSpPr>
          <p:cNvPr id="6" name="TextBox 5">
            <a:extLst>
              <a:ext uri="{FF2B5EF4-FFF2-40B4-BE49-F238E27FC236}">
                <a16:creationId xmlns:a16="http://schemas.microsoft.com/office/drawing/2014/main" id="{F45D77B2-E362-FCC8-698C-8BC5B11A057F}"/>
              </a:ext>
            </a:extLst>
          </p:cNvPr>
          <p:cNvSpPr txBox="1"/>
          <p:nvPr/>
        </p:nvSpPr>
        <p:spPr>
          <a:xfrm>
            <a:off x="533400" y="1066800"/>
            <a:ext cx="11310797" cy="4401205"/>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rapid growth of digital communication platforms has significantly increased voice-based interactions through voice notes and audio messages. However, current messaging systems mainly support keyword-based text search and lack semantic understanding within audio content. As the volume of stored voice messages increases, retrieving specific audio information becomes difficult and time-consuming.</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Traditional search mechanisms rely on exact keyword matching without contextual awareness. They cannot effectively analyze speech content, speaker characteristics, or contextual meaning inside voice messages, leading to inefficient retrieval of important audio data.</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address this challenge, this study proposes an </a:t>
            </a:r>
            <a:r>
              <a:rPr lang="en-US" sz="2000" b="1" dirty="0">
                <a:latin typeface="Times New Roman" panose="02020603050405020304" pitchFamily="18" charset="0"/>
                <a:cs typeface="Times New Roman" panose="02020603050405020304" pitchFamily="18" charset="0"/>
              </a:rPr>
              <a:t>AI-based Intelligent Audio Semantic Search System</a:t>
            </a:r>
            <a:r>
              <a:rPr lang="en-US" sz="2000" dirty="0">
                <a:latin typeface="Times New Roman" panose="02020603050405020304" pitchFamily="18" charset="0"/>
                <a:cs typeface="Times New Roman" panose="02020603050405020304" pitchFamily="18" charset="0"/>
              </a:rPr>
              <a:t>. The framework converts raw audio into feature representations such as MFCC and spectrograms and applies deep learning models (DNN, RNN, LSTM, GRU, HRNN) to capture sequential patterns, contextual relationships, and hierarchical temporal structures.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extracted representations are mapped into a semantic vector space to enable similarity-based audio retrieval, improving search relevance, contextual accuracy, and retrieval efficiency beyond traditional keyword-based methods.</a:t>
            </a:r>
          </a:p>
        </p:txBody>
      </p:sp>
      <p:sp>
        <p:nvSpPr>
          <p:cNvPr id="3" name="Slide Number Placeholder 2">
            <a:extLst>
              <a:ext uri="{FF2B5EF4-FFF2-40B4-BE49-F238E27FC236}">
                <a16:creationId xmlns:a16="http://schemas.microsoft.com/office/drawing/2014/main" id="{7898AC5E-A4F3-0719-F27B-D62E9068027F}"/>
              </a:ext>
            </a:extLst>
          </p:cNvPr>
          <p:cNvSpPr>
            <a:spLocks noGrp="1"/>
          </p:cNvSpPr>
          <p:nvPr>
            <p:ph type="sldNum" sz="quarter" idx="7"/>
          </p:nvPr>
        </p:nvSpPr>
        <p:spPr>
          <a:xfrm>
            <a:off x="10820400" y="6501333"/>
            <a:ext cx="320675" cy="254000"/>
          </a:xfrm>
        </p:spPr>
        <p:txBody>
          <a:bodyPr/>
          <a:lstStyle/>
          <a:p>
            <a:pPr marL="38100">
              <a:lnSpc>
                <a:spcPts val="1810"/>
              </a:lnSpc>
            </a:pPr>
            <a:fld id="{81D60167-4931-47E6-BA6A-407CBD079E47}" type="slidenum">
              <a:rPr lang="en-IN" spc="-50" smtClean="0"/>
              <a:t>4</a:t>
            </a:fld>
            <a:endParaRPr lang="en-IN"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6FDE6-EC7A-E47F-D76B-4B6A6CE3F6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5CA59E-7862-25FC-3843-0E78F0274939}"/>
              </a:ext>
            </a:extLst>
          </p:cNvPr>
          <p:cNvSpPr txBox="1">
            <a:spLocks noGrp="1"/>
          </p:cNvSpPr>
          <p:nvPr>
            <p:ph type="title"/>
          </p:nvPr>
        </p:nvSpPr>
        <p:spPr>
          <a:xfrm>
            <a:off x="631367" y="278880"/>
            <a:ext cx="11212830" cy="787920"/>
          </a:xfrm>
          <a:prstGeom prst="rect">
            <a:avLst/>
          </a:prstGeom>
          <a:solidFill>
            <a:srgbClr val="689C9A"/>
          </a:solidFill>
          <a:ln w="15872">
            <a:solidFill>
              <a:srgbClr val="454330"/>
            </a:solidFill>
          </a:ln>
        </p:spPr>
        <p:txBody>
          <a:bodyPr vert="horz" wrap="square" lIns="0" tIns="190500" rIns="0" bIns="208800" rtlCol="0">
            <a:spAutoFit/>
          </a:bodyPr>
          <a:lstStyle/>
          <a:p>
            <a:pPr marL="635" algn="ctr">
              <a:lnSpc>
                <a:spcPct val="100000"/>
              </a:lnSpc>
              <a:spcBef>
                <a:spcPts val="1500"/>
              </a:spcBef>
            </a:pPr>
            <a:r>
              <a:rPr lang="en-US" spc="-10" dirty="0"/>
              <a:t>DATASET DESCRIPTION</a:t>
            </a:r>
            <a:endParaRPr spc="-10" dirty="0"/>
          </a:p>
        </p:txBody>
      </p:sp>
      <p:sp>
        <p:nvSpPr>
          <p:cNvPr id="6" name="TextBox 5">
            <a:extLst>
              <a:ext uri="{FF2B5EF4-FFF2-40B4-BE49-F238E27FC236}">
                <a16:creationId xmlns:a16="http://schemas.microsoft.com/office/drawing/2014/main" id="{0A392266-BE53-72CE-758D-C76112447CCC}"/>
              </a:ext>
            </a:extLst>
          </p:cNvPr>
          <p:cNvSpPr txBox="1"/>
          <p:nvPr/>
        </p:nvSpPr>
        <p:spPr>
          <a:xfrm>
            <a:off x="533400" y="1097101"/>
            <a:ext cx="11310797" cy="3170099"/>
          </a:xfrm>
          <a:prstGeom prst="rect">
            <a:avLst/>
          </a:prstGeom>
          <a:noFill/>
        </p:spPr>
        <p:txBody>
          <a:bodyPr wrap="square">
            <a:spAutoFit/>
          </a:bodyPr>
          <a:lstStyle/>
          <a:p>
            <a:pPr algn="just">
              <a:buNone/>
            </a:pPr>
            <a:r>
              <a:rPr lang="en-US" sz="2000" b="1" dirty="0">
                <a:effectLst/>
                <a:latin typeface="Times New Roman" panose="02020603050405020304" pitchFamily="18" charset="0"/>
                <a:cs typeface="Times New Roman" panose="02020603050405020304" pitchFamily="18" charset="0"/>
              </a:rPr>
              <a:t>A. Dataset Overview</a:t>
            </a:r>
            <a:endParaRPr lang="en-IN" sz="2000" dirty="0">
              <a:effectLst/>
            </a:endParaRPr>
          </a:p>
          <a:p>
            <a:pPr algn="just"/>
            <a:r>
              <a:rPr lang="en-IN" sz="2000" dirty="0">
                <a:latin typeface="Times New Roman" panose="02020603050405020304" pitchFamily="18" charset="0"/>
                <a:cs typeface="Times New Roman" panose="02020603050405020304" pitchFamily="18" charset="0"/>
              </a:rPr>
              <a:t>The dataset is a </a:t>
            </a:r>
            <a:r>
              <a:rPr lang="en-IN" sz="2000" b="1" dirty="0">
                <a:latin typeface="Times New Roman" panose="02020603050405020304" pitchFamily="18" charset="0"/>
                <a:cs typeface="Times New Roman" panose="02020603050405020304" pitchFamily="18" charset="0"/>
              </a:rPr>
              <a:t>multimodal communication dataset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containing,voice</a:t>
            </a:r>
            <a:r>
              <a:rPr lang="en-IN" sz="2000" dirty="0">
                <a:latin typeface="Times New Roman" panose="02020603050405020304" pitchFamily="18" charset="0"/>
                <a:cs typeface="Times New Roman" panose="02020603050405020304" pitchFamily="18" charset="0"/>
              </a:rPr>
              <a:t> notes and related metadata exchanged between users. It supports analysis of conversational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speech recognition, and information retrieval. </a:t>
            </a:r>
            <a:br>
              <a:rPr lang="en-US" sz="2000" dirty="0">
                <a:effectLst/>
                <a:latin typeface="Times New Roman" panose="02020603050405020304" pitchFamily="18" charset="0"/>
                <a:cs typeface="Times New Roman" panose="02020603050405020304" pitchFamily="18" charset="0"/>
              </a:rPr>
            </a:br>
            <a:endParaRPr lang="en-US" sz="2000" dirty="0">
              <a:effectLst/>
              <a:latin typeface="Times New Roman" panose="02020603050405020304" pitchFamily="18" charset="0"/>
              <a:cs typeface="Times New Roman" panose="02020603050405020304" pitchFamily="18" charset="0"/>
            </a:endParaRPr>
          </a:p>
          <a:p>
            <a:pPr algn="just">
              <a:buNone/>
            </a:pPr>
            <a:r>
              <a:rPr lang="en-US" sz="2000" b="1" dirty="0">
                <a:effectLst/>
                <a:latin typeface="Times New Roman" panose="02020603050405020304" pitchFamily="18" charset="0"/>
                <a:cs typeface="Times New Roman" panose="02020603050405020304" pitchFamily="18" charset="0"/>
              </a:rPr>
              <a:t>B. Data Preprocessing and Feature Extraction</a:t>
            </a:r>
            <a:endParaRPr lang="en-IN" sz="2000" dirty="0">
              <a:effectLst/>
            </a:endParaRPr>
          </a:p>
          <a:p>
            <a:pPr algn="just">
              <a:buNone/>
            </a:pPr>
            <a:r>
              <a:rPr lang="en-US" sz="2000" dirty="0">
                <a:effectLst/>
                <a:latin typeface="Times New Roman" panose="02020603050405020304" pitchFamily="18" charset="0"/>
                <a:cs typeface="Times New Roman" panose="02020603050405020304" pitchFamily="18" charset="0"/>
              </a:rPr>
              <a:t>The dataset undergoes preprocessing to ensure consistency, reliability, and suitability for machine learning and deep learning models. The major preprocessing and feature extraction steps include:</a:t>
            </a:r>
            <a:endParaRPr lang="en-IN" sz="2000" dirty="0">
              <a:effectLst/>
            </a:endParaRPr>
          </a:p>
          <a:p>
            <a:pPr algn="just">
              <a:buClrTx/>
              <a:buSzTx/>
              <a:buFont typeface="Arial" panose="020B0604020202020204" pitchFamily="34" charset="0"/>
              <a:buChar char="•"/>
            </a:pPr>
            <a:r>
              <a:rPr lang="en-US" sz="2000" b="1" dirty="0">
                <a:effectLst/>
                <a:latin typeface="Times New Roman" panose="02020603050405020304" pitchFamily="18" charset="0"/>
                <a:cs typeface="Times New Roman" panose="02020603050405020304" pitchFamily="18" charset="0"/>
              </a:rPr>
              <a:t>Speech Processing:</a:t>
            </a:r>
            <a:r>
              <a:rPr lang="en-US" sz="2000" dirty="0">
                <a:effectLst/>
                <a:latin typeface="Times New Roman" panose="02020603050405020304" pitchFamily="18" charset="0"/>
                <a:cs typeface="Times New Roman" panose="02020603050405020304" pitchFamily="18" charset="0"/>
              </a:rPr>
              <a:t> Voice notes are converted into text using speech-to-text techniques. Audio features such as MFCCs or speech embeddings are extracted, and confidence scores are assigned to evaluate recognition accuracy.</a:t>
            </a:r>
          </a:p>
        </p:txBody>
      </p:sp>
      <p:sp>
        <p:nvSpPr>
          <p:cNvPr id="3" name="Slide Number Placeholder 2">
            <a:extLst>
              <a:ext uri="{FF2B5EF4-FFF2-40B4-BE49-F238E27FC236}">
                <a16:creationId xmlns:a16="http://schemas.microsoft.com/office/drawing/2014/main" id="{C6168B64-4113-C2B5-9BBB-7A6A91C91F4C}"/>
              </a:ext>
            </a:extLst>
          </p:cNvPr>
          <p:cNvSpPr>
            <a:spLocks noGrp="1"/>
          </p:cNvSpPr>
          <p:nvPr>
            <p:ph type="sldNum" sz="quarter" idx="7"/>
          </p:nvPr>
        </p:nvSpPr>
        <p:spPr>
          <a:xfrm>
            <a:off x="10896600" y="6475176"/>
            <a:ext cx="320675" cy="254000"/>
          </a:xfrm>
        </p:spPr>
        <p:txBody>
          <a:bodyPr/>
          <a:lstStyle/>
          <a:p>
            <a:pPr marL="38100">
              <a:lnSpc>
                <a:spcPts val="1810"/>
              </a:lnSpc>
            </a:pPr>
            <a:fld id="{81D60167-4931-47E6-BA6A-407CBD079E47}" type="slidenum">
              <a:rPr lang="en-IN" spc="-50" smtClean="0"/>
              <a:t>5</a:t>
            </a:fld>
            <a:endParaRPr lang="en-IN" spc="-50" dirty="0"/>
          </a:p>
        </p:txBody>
      </p:sp>
      <p:sp>
        <p:nvSpPr>
          <p:cNvPr id="8" name="TextBox 7">
            <a:extLst>
              <a:ext uri="{FF2B5EF4-FFF2-40B4-BE49-F238E27FC236}">
                <a16:creationId xmlns:a16="http://schemas.microsoft.com/office/drawing/2014/main" id="{2995CF5A-5404-3C19-A647-233594B7EE4E}"/>
              </a:ext>
            </a:extLst>
          </p:cNvPr>
          <p:cNvSpPr txBox="1"/>
          <p:nvPr/>
        </p:nvSpPr>
        <p:spPr>
          <a:xfrm>
            <a:off x="552450" y="4171890"/>
            <a:ext cx="6119812" cy="400110"/>
          </a:xfrm>
          <a:prstGeom prst="rect">
            <a:avLst/>
          </a:prstGeom>
          <a:noFill/>
        </p:spPr>
        <p:txBody>
          <a:bodyPr wrap="square">
            <a:spAutoFit/>
          </a:bodyPr>
          <a:lstStyle/>
          <a:p>
            <a:r>
              <a:rPr lang="en-IN" sz="2000" b="1" dirty="0">
                <a:solidFill>
                  <a:srgbClr val="FF0000"/>
                </a:solidFill>
                <a:latin typeface="Times New Roman" panose="02020603050405020304" pitchFamily="18" charset="0"/>
                <a:cs typeface="Times New Roman" panose="02020603050405020304" pitchFamily="18" charset="0"/>
              </a:rPr>
              <a:t>Dataset Structure Overview</a:t>
            </a:r>
          </a:p>
        </p:txBody>
      </p:sp>
      <p:graphicFrame>
        <p:nvGraphicFramePr>
          <p:cNvPr id="9" name="Table 8">
            <a:extLst>
              <a:ext uri="{FF2B5EF4-FFF2-40B4-BE49-F238E27FC236}">
                <a16:creationId xmlns:a16="http://schemas.microsoft.com/office/drawing/2014/main" id="{43FED4F5-2BD2-7653-3D0A-D6B13553BFCC}"/>
              </a:ext>
            </a:extLst>
          </p:cNvPr>
          <p:cNvGraphicFramePr>
            <a:graphicFrameLocks noGrp="1"/>
          </p:cNvGraphicFramePr>
          <p:nvPr>
            <p:extLst>
              <p:ext uri="{D42A27DB-BD31-4B8C-83A1-F6EECF244321}">
                <p14:modId xmlns:p14="http://schemas.microsoft.com/office/powerpoint/2010/main" val="3929049358"/>
              </p:ext>
            </p:extLst>
          </p:nvPr>
        </p:nvGraphicFramePr>
        <p:xfrm>
          <a:off x="669467" y="4587240"/>
          <a:ext cx="6681787" cy="1584960"/>
        </p:xfrm>
        <a:graphic>
          <a:graphicData uri="http://schemas.openxmlformats.org/drawingml/2006/table">
            <a:tbl>
              <a:tblPr>
                <a:tableStyleId>{3C2FFA5D-87B4-456A-9821-1D502468CF0F}</a:tableStyleId>
              </a:tblPr>
              <a:tblGrid>
                <a:gridCol w="2873375">
                  <a:extLst>
                    <a:ext uri="{9D8B030D-6E8A-4147-A177-3AD203B41FA5}">
                      <a16:colId xmlns:a16="http://schemas.microsoft.com/office/drawing/2014/main" val="4042729613"/>
                    </a:ext>
                  </a:extLst>
                </a:gridCol>
                <a:gridCol w="3808412">
                  <a:extLst>
                    <a:ext uri="{9D8B030D-6E8A-4147-A177-3AD203B41FA5}">
                      <a16:colId xmlns:a16="http://schemas.microsoft.com/office/drawing/2014/main" val="2560256185"/>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3328128664"/>
                  </a:ext>
                </a:extLst>
              </a:tr>
              <a:tr h="0">
                <a:tc>
                  <a:txBody>
                    <a:bodyPr/>
                    <a:lstStyle/>
                    <a:p>
                      <a:pPr>
                        <a:buNone/>
                      </a:pPr>
                      <a:r>
                        <a:rPr lang="en-IN" sz="2000" dirty="0">
                          <a:latin typeface="Times New Roman" panose="02020603050405020304" pitchFamily="18" charset="0"/>
                          <a:cs typeface="Times New Roman" panose="02020603050405020304" pitchFamily="18" charset="0"/>
                        </a:rPr>
                        <a:t>Voice Notes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Audio messages with metadata</a:t>
                      </a:r>
                    </a:p>
                  </a:txBody>
                  <a:tcPr anchor="ctr"/>
                </a:tc>
                <a:extLst>
                  <a:ext uri="{0D108BD9-81ED-4DB2-BD59-A6C34878D82A}">
                    <a16:rowId xmlns:a16="http://schemas.microsoft.com/office/drawing/2014/main" val="2459753678"/>
                  </a:ext>
                </a:extLst>
              </a:tr>
              <a:tr h="0">
                <a:tc>
                  <a:txBody>
                    <a:bodyPr/>
                    <a:lstStyle/>
                    <a:p>
                      <a:pPr>
                        <a:buNone/>
                      </a:pPr>
                      <a:r>
                        <a:rPr lang="en-IN" sz="2000" dirty="0">
                          <a:latin typeface="Times New Roman" panose="02020603050405020304" pitchFamily="18" charset="0"/>
                          <a:cs typeface="Times New Roman" panose="02020603050405020304" pitchFamily="18" charset="0"/>
                        </a:rPr>
                        <a:t>Metadata</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Time, sender, type, and size</a:t>
                      </a:r>
                    </a:p>
                  </a:txBody>
                  <a:tcPr anchor="ctr"/>
                </a:tc>
                <a:extLst>
                  <a:ext uri="{0D108BD9-81ED-4DB2-BD59-A6C34878D82A}">
                    <a16:rowId xmlns:a16="http://schemas.microsoft.com/office/drawing/2014/main" val="2996879995"/>
                  </a:ext>
                </a:extLst>
              </a:tr>
              <a:tr h="0">
                <a:tc>
                  <a:txBody>
                    <a:bodyPr/>
                    <a:lstStyle/>
                    <a:p>
                      <a:pPr>
                        <a:buNone/>
                      </a:pPr>
                      <a:r>
                        <a:rPr lang="en-IN" sz="2000" dirty="0">
                          <a:latin typeface="Times New Roman" panose="02020603050405020304" pitchFamily="18" charset="0"/>
                          <a:cs typeface="Times New Roman" panose="02020603050405020304" pitchFamily="18" charset="0"/>
                        </a:rPr>
                        <a:t>Search Index</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Tokenized and vectorized content</a:t>
                      </a:r>
                    </a:p>
                  </a:txBody>
                  <a:tcPr anchor="ctr"/>
                </a:tc>
                <a:extLst>
                  <a:ext uri="{0D108BD9-81ED-4DB2-BD59-A6C34878D82A}">
                    <a16:rowId xmlns:a16="http://schemas.microsoft.com/office/drawing/2014/main" val="2208679831"/>
                  </a:ext>
                </a:extLst>
              </a:tr>
            </a:tbl>
          </a:graphicData>
        </a:graphic>
      </p:graphicFrame>
    </p:spTree>
    <p:extLst>
      <p:ext uri="{BB962C8B-B14F-4D97-AF65-F5344CB8AC3E}">
        <p14:creationId xmlns:p14="http://schemas.microsoft.com/office/powerpoint/2010/main" val="1731979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F084A-BD85-BBA3-7FA9-C283EA1F872B}"/>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38B1518A-D0FE-180A-851C-73F25C456ACE}"/>
              </a:ext>
            </a:extLst>
          </p:cNvPr>
          <p:cNvSpPr txBox="1">
            <a:spLocks/>
          </p:cNvSpPr>
          <p:nvPr/>
        </p:nvSpPr>
        <p:spPr>
          <a:xfrm>
            <a:off x="631367" y="278880"/>
            <a:ext cx="11212830" cy="787920"/>
          </a:xfrm>
          <a:prstGeom prst="rect">
            <a:avLst/>
          </a:prstGeom>
          <a:solidFill>
            <a:srgbClr val="689C9A"/>
          </a:solidFill>
          <a:ln w="15872">
            <a:solidFill>
              <a:srgbClr val="454330"/>
            </a:solidFill>
          </a:ln>
        </p:spPr>
        <p:txBody>
          <a:bodyPr vert="horz" wrap="square" lIns="0" tIns="190500" rIns="0" bIns="208800" rtlCol="0">
            <a:spAutoFit/>
          </a:bodyPr>
          <a:lstStyle>
            <a:lvl1pPr>
              <a:defRPr sz="2500" b="1" i="0">
                <a:solidFill>
                  <a:schemeClr val="bg1"/>
                </a:solidFill>
                <a:latin typeface="Times New Roman"/>
                <a:ea typeface="+mj-ea"/>
                <a:cs typeface="Times New Roman"/>
              </a:defRPr>
            </a:lvl1pPr>
          </a:lstStyle>
          <a:p>
            <a:pPr algn="ctr">
              <a:spcBef>
                <a:spcPts val="1500"/>
              </a:spcBef>
            </a:pPr>
            <a:r>
              <a:rPr lang="en-IN" dirty="0"/>
              <a:t>DATASET DESCRIPTION</a:t>
            </a:r>
            <a:endParaRPr lang="en-IN" spc="-10" dirty="0"/>
          </a:p>
        </p:txBody>
      </p:sp>
      <p:sp>
        <p:nvSpPr>
          <p:cNvPr id="3" name="TextBox 2">
            <a:extLst>
              <a:ext uri="{FF2B5EF4-FFF2-40B4-BE49-F238E27FC236}">
                <a16:creationId xmlns:a16="http://schemas.microsoft.com/office/drawing/2014/main" id="{AA5505BB-4D67-A061-2818-4084B9AAAA11}"/>
              </a:ext>
            </a:extLst>
          </p:cNvPr>
          <p:cNvSpPr txBox="1"/>
          <p:nvPr/>
        </p:nvSpPr>
        <p:spPr>
          <a:xfrm>
            <a:off x="609600" y="1143000"/>
            <a:ext cx="609600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Voice Message Attributes</a:t>
            </a:r>
          </a:p>
        </p:txBody>
      </p:sp>
      <p:graphicFrame>
        <p:nvGraphicFramePr>
          <p:cNvPr id="4" name="Table 3">
            <a:extLst>
              <a:ext uri="{FF2B5EF4-FFF2-40B4-BE49-F238E27FC236}">
                <a16:creationId xmlns:a16="http://schemas.microsoft.com/office/drawing/2014/main" id="{DC757F29-62A4-F5E3-C310-20F69108E48C}"/>
              </a:ext>
            </a:extLst>
          </p:cNvPr>
          <p:cNvGraphicFramePr>
            <a:graphicFrameLocks noGrp="1"/>
          </p:cNvGraphicFramePr>
          <p:nvPr>
            <p:extLst>
              <p:ext uri="{D42A27DB-BD31-4B8C-83A1-F6EECF244321}">
                <p14:modId xmlns:p14="http://schemas.microsoft.com/office/powerpoint/2010/main" val="1381151918"/>
              </p:ext>
            </p:extLst>
          </p:nvPr>
        </p:nvGraphicFramePr>
        <p:xfrm>
          <a:off x="762000" y="1600200"/>
          <a:ext cx="7467600" cy="3596640"/>
        </p:xfrm>
        <a:graphic>
          <a:graphicData uri="http://schemas.openxmlformats.org/drawingml/2006/table">
            <a:tbl>
              <a:tblPr>
                <a:tableStyleId>{3C2FFA5D-87B4-456A-9821-1D502468CF0F}</a:tableStyleId>
              </a:tblPr>
              <a:tblGrid>
                <a:gridCol w="2489200">
                  <a:extLst>
                    <a:ext uri="{9D8B030D-6E8A-4147-A177-3AD203B41FA5}">
                      <a16:colId xmlns:a16="http://schemas.microsoft.com/office/drawing/2014/main" val="2295053541"/>
                    </a:ext>
                  </a:extLst>
                </a:gridCol>
                <a:gridCol w="2489200">
                  <a:extLst>
                    <a:ext uri="{9D8B030D-6E8A-4147-A177-3AD203B41FA5}">
                      <a16:colId xmlns:a16="http://schemas.microsoft.com/office/drawing/2014/main" val="834844246"/>
                    </a:ext>
                  </a:extLst>
                </a:gridCol>
                <a:gridCol w="2489200">
                  <a:extLst>
                    <a:ext uri="{9D8B030D-6E8A-4147-A177-3AD203B41FA5}">
                      <a16:colId xmlns:a16="http://schemas.microsoft.com/office/drawing/2014/main" val="609470715"/>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Attribute Name</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Data Type</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2013814111"/>
                  </a:ext>
                </a:extLst>
              </a:tr>
              <a:tr h="0">
                <a:tc>
                  <a:txBody>
                    <a:bodyPr/>
                    <a:lstStyle/>
                    <a:p>
                      <a:pPr>
                        <a:buNone/>
                      </a:pPr>
                      <a:r>
                        <a:rPr lang="en-IN" sz="2000">
                          <a:latin typeface="Times New Roman" panose="02020603050405020304" pitchFamily="18" charset="0"/>
                          <a:cs typeface="Times New Roman" panose="02020603050405020304" pitchFamily="18" charset="0"/>
                        </a:rPr>
                        <a:t>audio_id</a:t>
                      </a:r>
                    </a:p>
                  </a:txBody>
                  <a:tcPr anchor="ctr"/>
                </a:tc>
                <a:tc>
                  <a:txBody>
                    <a:bodyPr/>
                    <a:lstStyle/>
                    <a:p>
                      <a:pPr>
                        <a:buNone/>
                      </a:pPr>
                      <a:r>
                        <a:rPr lang="en-IN" sz="2000">
                          <a:latin typeface="Times New Roman" panose="02020603050405020304" pitchFamily="18" charset="0"/>
                          <a:cs typeface="Times New Roman" panose="02020603050405020304" pitchFamily="18" charset="0"/>
                        </a:rPr>
                        <a:t>Integer</a:t>
                      </a:r>
                    </a:p>
                  </a:txBody>
                  <a:tcPr anchor="ctr"/>
                </a:tc>
                <a:tc>
                  <a:txBody>
                    <a:bodyPr/>
                    <a:lstStyle/>
                    <a:p>
                      <a:pPr>
                        <a:buNone/>
                      </a:pPr>
                      <a:r>
                        <a:rPr lang="fr-FR" sz="2000" dirty="0">
                          <a:latin typeface="Times New Roman" panose="02020603050405020304" pitchFamily="18" charset="0"/>
                          <a:cs typeface="Times New Roman" panose="02020603050405020304" pitchFamily="18" charset="0"/>
                        </a:rPr>
                        <a:t>Unique identifier for </a:t>
                      </a:r>
                      <a:r>
                        <a:rPr lang="fr-FR" sz="2000" dirty="0" err="1">
                          <a:latin typeface="Times New Roman" panose="02020603050405020304" pitchFamily="18" charset="0"/>
                          <a:cs typeface="Times New Roman" panose="02020603050405020304" pitchFamily="18" charset="0"/>
                        </a:rPr>
                        <a:t>voice</a:t>
                      </a:r>
                      <a:r>
                        <a:rPr lang="fr-FR" sz="2000" dirty="0">
                          <a:latin typeface="Times New Roman" panose="02020603050405020304" pitchFamily="18" charset="0"/>
                          <a:cs typeface="Times New Roman" panose="02020603050405020304" pitchFamily="18" charset="0"/>
                        </a:rPr>
                        <a:t> message</a:t>
                      </a:r>
                    </a:p>
                  </a:txBody>
                  <a:tcPr anchor="ctr"/>
                </a:tc>
                <a:extLst>
                  <a:ext uri="{0D108BD9-81ED-4DB2-BD59-A6C34878D82A}">
                    <a16:rowId xmlns:a16="http://schemas.microsoft.com/office/drawing/2014/main" val="831845815"/>
                  </a:ext>
                </a:extLst>
              </a:tr>
              <a:tr h="0">
                <a:tc>
                  <a:txBody>
                    <a:bodyPr/>
                    <a:lstStyle/>
                    <a:p>
                      <a:pPr>
                        <a:buNone/>
                      </a:pPr>
                      <a:r>
                        <a:rPr lang="en-IN" sz="2000" dirty="0" err="1">
                          <a:latin typeface="Times New Roman" panose="02020603050405020304" pitchFamily="18" charset="0"/>
                          <a:cs typeface="Times New Roman" panose="02020603050405020304" pitchFamily="18" charset="0"/>
                        </a:rPr>
                        <a:t>audio_duration</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latin typeface="Times New Roman" panose="02020603050405020304" pitchFamily="18" charset="0"/>
                          <a:cs typeface="Times New Roman" panose="02020603050405020304" pitchFamily="18" charset="0"/>
                        </a:rPr>
                        <a:t>Float</a:t>
                      </a:r>
                    </a:p>
                  </a:txBody>
                  <a:tcPr anchor="ctr"/>
                </a:tc>
                <a:tc>
                  <a:txBody>
                    <a:bodyPr/>
                    <a:lstStyle/>
                    <a:p>
                      <a:pPr>
                        <a:buNone/>
                      </a:pPr>
                      <a:r>
                        <a:rPr lang="en-IN" sz="2000">
                          <a:latin typeface="Times New Roman" panose="02020603050405020304" pitchFamily="18" charset="0"/>
                          <a:cs typeface="Times New Roman" panose="02020603050405020304" pitchFamily="18" charset="0"/>
                        </a:rPr>
                        <a:t>Duration in seconds</a:t>
                      </a:r>
                    </a:p>
                  </a:txBody>
                  <a:tcPr anchor="ctr"/>
                </a:tc>
                <a:extLst>
                  <a:ext uri="{0D108BD9-81ED-4DB2-BD59-A6C34878D82A}">
                    <a16:rowId xmlns:a16="http://schemas.microsoft.com/office/drawing/2014/main" val="1578855793"/>
                  </a:ext>
                </a:extLst>
              </a:tr>
              <a:tr h="0">
                <a:tc>
                  <a:txBody>
                    <a:bodyPr/>
                    <a:lstStyle/>
                    <a:p>
                      <a:pPr>
                        <a:buNone/>
                      </a:pPr>
                      <a:r>
                        <a:rPr lang="en-IN" sz="2000">
                          <a:latin typeface="Times New Roman" panose="02020603050405020304" pitchFamily="18" charset="0"/>
                          <a:cs typeface="Times New Roman" panose="02020603050405020304" pitchFamily="18" charset="0"/>
                        </a:rPr>
                        <a:t>audio_text</a:t>
                      </a:r>
                    </a:p>
                  </a:txBody>
                  <a:tcPr anchor="ctr"/>
                </a:tc>
                <a:tc>
                  <a:txBody>
                    <a:bodyPr/>
                    <a:lstStyle/>
                    <a:p>
                      <a:pPr>
                        <a:buNone/>
                      </a:pPr>
                      <a:r>
                        <a:rPr lang="en-IN" sz="2000">
                          <a:latin typeface="Times New Roman" panose="02020603050405020304" pitchFamily="18" charset="0"/>
                          <a:cs typeface="Times New Roman" panose="02020603050405020304" pitchFamily="18" charset="0"/>
                        </a:rPr>
                        <a:t>Text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Speech-to-text converted content</a:t>
                      </a:r>
                    </a:p>
                  </a:txBody>
                  <a:tcPr anchor="ctr"/>
                </a:tc>
                <a:extLst>
                  <a:ext uri="{0D108BD9-81ED-4DB2-BD59-A6C34878D82A}">
                    <a16:rowId xmlns:a16="http://schemas.microsoft.com/office/drawing/2014/main" val="472253599"/>
                  </a:ext>
                </a:extLst>
              </a:tr>
              <a:tr h="0">
                <a:tc>
                  <a:txBody>
                    <a:bodyPr/>
                    <a:lstStyle/>
                    <a:p>
                      <a:pPr>
                        <a:buNone/>
                      </a:pPr>
                      <a:r>
                        <a:rPr lang="en-IN" sz="2000">
                          <a:latin typeface="Times New Roman" panose="02020603050405020304" pitchFamily="18" charset="0"/>
                          <a:cs typeface="Times New Roman" panose="02020603050405020304" pitchFamily="18" charset="0"/>
                        </a:rPr>
                        <a:t>audio_features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Vector</a:t>
                      </a:r>
                    </a:p>
                  </a:txBody>
                  <a:tcPr anchor="ctr"/>
                </a:tc>
                <a:tc>
                  <a:txBody>
                    <a:bodyPr/>
                    <a:lstStyle/>
                    <a:p>
                      <a:pPr>
                        <a:buNone/>
                      </a:pPr>
                      <a:r>
                        <a:rPr lang="en-IN" sz="2000">
                          <a:latin typeface="Times New Roman" panose="02020603050405020304" pitchFamily="18" charset="0"/>
                          <a:cs typeface="Times New Roman" panose="02020603050405020304" pitchFamily="18" charset="0"/>
                        </a:rPr>
                        <a:t>MFCC or speech embeddings</a:t>
                      </a:r>
                    </a:p>
                  </a:txBody>
                  <a:tcPr anchor="ctr"/>
                </a:tc>
                <a:extLst>
                  <a:ext uri="{0D108BD9-81ED-4DB2-BD59-A6C34878D82A}">
                    <a16:rowId xmlns:a16="http://schemas.microsoft.com/office/drawing/2014/main" val="1657016452"/>
                  </a:ext>
                </a:extLst>
              </a:tr>
              <a:tr h="0">
                <a:tc>
                  <a:txBody>
                    <a:bodyPr/>
                    <a:lstStyle/>
                    <a:p>
                      <a:pPr>
                        <a:buNone/>
                      </a:pPr>
                      <a:r>
                        <a:rPr lang="en-IN" sz="2000" dirty="0" err="1">
                          <a:latin typeface="Times New Roman" panose="02020603050405020304" pitchFamily="18" charset="0"/>
                          <a:cs typeface="Times New Roman" panose="02020603050405020304" pitchFamily="18" charset="0"/>
                        </a:rPr>
                        <a:t>confidence_score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Float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Accuracy of speech recognition</a:t>
                      </a:r>
                    </a:p>
                  </a:txBody>
                  <a:tcPr anchor="ctr"/>
                </a:tc>
                <a:extLst>
                  <a:ext uri="{0D108BD9-81ED-4DB2-BD59-A6C34878D82A}">
                    <a16:rowId xmlns:a16="http://schemas.microsoft.com/office/drawing/2014/main" val="1676650367"/>
                  </a:ext>
                </a:extLst>
              </a:tr>
            </a:tbl>
          </a:graphicData>
        </a:graphic>
      </p:graphicFrame>
      <p:sp>
        <p:nvSpPr>
          <p:cNvPr id="2" name="Slide Number Placeholder 1">
            <a:extLst>
              <a:ext uri="{FF2B5EF4-FFF2-40B4-BE49-F238E27FC236}">
                <a16:creationId xmlns:a16="http://schemas.microsoft.com/office/drawing/2014/main" id="{32A8A8D9-108D-B9A9-3325-80BE7E0411F6}"/>
              </a:ext>
            </a:extLst>
          </p:cNvPr>
          <p:cNvSpPr>
            <a:spLocks noGrp="1"/>
          </p:cNvSpPr>
          <p:nvPr>
            <p:ph type="sldNum" sz="quarter" idx="7"/>
          </p:nvPr>
        </p:nvSpPr>
        <p:spPr/>
        <p:txBody>
          <a:bodyPr/>
          <a:lstStyle/>
          <a:p>
            <a:pPr marL="38100">
              <a:lnSpc>
                <a:spcPts val="1810"/>
              </a:lnSpc>
            </a:pPr>
            <a:fld id="{81D60167-4931-47E6-BA6A-407CBD079E47}" type="slidenum">
              <a:rPr lang="en-IN" spc="-50" smtClean="0"/>
              <a:t>6</a:t>
            </a:fld>
            <a:endParaRPr lang="en-IN" spc="-50" dirty="0"/>
          </a:p>
        </p:txBody>
      </p:sp>
    </p:spTree>
    <p:extLst>
      <p:ext uri="{BB962C8B-B14F-4D97-AF65-F5344CB8AC3E}">
        <p14:creationId xmlns:p14="http://schemas.microsoft.com/office/powerpoint/2010/main" val="379379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76231F-7FC9-232D-5D2C-165804CBBE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FF86AC-465F-63D4-6A9D-B24B5C57374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7</a:t>
            </a:fld>
            <a:endParaRPr spc="-50" dirty="0"/>
          </a:p>
        </p:txBody>
      </p:sp>
      <p:sp>
        <p:nvSpPr>
          <p:cNvPr id="3" name="object 3">
            <a:extLst>
              <a:ext uri="{FF2B5EF4-FFF2-40B4-BE49-F238E27FC236}">
                <a16:creationId xmlns:a16="http://schemas.microsoft.com/office/drawing/2014/main" id="{8EE2E3F3-A174-C0EF-CC15-8B9399A459EE}"/>
              </a:ext>
            </a:extLst>
          </p:cNvPr>
          <p:cNvSpPr txBox="1">
            <a:spLocks noGrp="1"/>
          </p:cNvSpPr>
          <p:nvPr>
            <p:ph type="title"/>
          </p:nvPr>
        </p:nvSpPr>
        <p:spPr>
          <a:xfrm>
            <a:off x="650849" y="281940"/>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
        <p:nvSpPr>
          <p:cNvPr id="6" name="TextBox 5">
            <a:extLst>
              <a:ext uri="{FF2B5EF4-FFF2-40B4-BE49-F238E27FC236}">
                <a16:creationId xmlns:a16="http://schemas.microsoft.com/office/drawing/2014/main" id="{19564F6E-4747-CDEE-A655-2521711B7F8E}"/>
              </a:ext>
            </a:extLst>
          </p:cNvPr>
          <p:cNvSpPr txBox="1"/>
          <p:nvPr/>
        </p:nvSpPr>
        <p:spPr>
          <a:xfrm>
            <a:off x="650848" y="1066800"/>
            <a:ext cx="9255151"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1. Deep Neural Network (DNN)</a:t>
            </a:r>
            <a:r>
              <a:rPr lang="en-IN" sz="2400" dirty="0"/>
              <a:t> </a:t>
            </a:r>
            <a:r>
              <a:rPr lang="en-IN" sz="2400" b="1" dirty="0">
                <a:solidFill>
                  <a:srgbClr val="FF0000"/>
                </a:solidFill>
                <a:latin typeface="Times New Roman" panose="02020603050405020304" pitchFamily="18" charset="0"/>
                <a:cs typeface="Times New Roman" panose="02020603050405020304" pitchFamily="18" charset="0"/>
              </a:rPr>
              <a:t>[1, 2, 3, 4, 6, 7, 8, 11, 12]</a:t>
            </a:r>
          </a:p>
        </p:txBody>
      </p:sp>
      <p:sp>
        <p:nvSpPr>
          <p:cNvPr id="8" name="TextBox 7">
            <a:extLst>
              <a:ext uri="{FF2B5EF4-FFF2-40B4-BE49-F238E27FC236}">
                <a16:creationId xmlns:a16="http://schemas.microsoft.com/office/drawing/2014/main" id="{EF186802-7C08-2A76-5493-F7BF09578E98}"/>
              </a:ext>
            </a:extLst>
          </p:cNvPr>
          <p:cNvSpPr txBox="1"/>
          <p:nvPr/>
        </p:nvSpPr>
        <p:spPr>
          <a:xfrm>
            <a:off x="838200" y="1587995"/>
            <a:ext cx="11049000" cy="1323439"/>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Deep Neural Networks (DNN) are widely used in audio processing and speech analysis because of their ability to learn complex patterns from raw audio signals. In audio-based systems, DNN models extract meaningful features such as MFCC (Mel-Frequency Cepstral Coefficients), spectrograms, and other frequency-domain representations to capture sound characteristics and acoustic patterns.</a:t>
            </a:r>
          </a:p>
        </p:txBody>
      </p:sp>
      <p:sp>
        <p:nvSpPr>
          <p:cNvPr id="7" name="TextBox 6">
            <a:extLst>
              <a:ext uri="{FF2B5EF4-FFF2-40B4-BE49-F238E27FC236}">
                <a16:creationId xmlns:a16="http://schemas.microsoft.com/office/drawing/2014/main" id="{B1A9EEEC-0B36-6D02-133C-34510C3C8980}"/>
              </a:ext>
            </a:extLst>
          </p:cNvPr>
          <p:cNvSpPr txBox="1"/>
          <p:nvPr/>
        </p:nvSpPr>
        <p:spPr>
          <a:xfrm>
            <a:off x="838200" y="4852274"/>
            <a:ext cx="11049000" cy="1323439"/>
          </a:xfrm>
          <a:prstGeom prst="rect">
            <a:avLst/>
          </a:prstGeom>
          <a:noFill/>
        </p:spPr>
        <p:txBody>
          <a:bodyPr wrap="square">
            <a:spAutoFit/>
          </a:bodyPr>
          <a:lstStyle/>
          <a:p>
            <a:r>
              <a:rPr lang="en-IN" sz="2000" b="1" i="0" dirty="0">
                <a:solidFill>
                  <a:srgbClr val="FF0000"/>
                </a:solidFill>
                <a:effectLst/>
                <a:latin typeface="Times New Roman" panose="02020603050405020304" pitchFamily="18" charset="0"/>
                <a:cs typeface="Times New Roman" panose="02020603050405020304" pitchFamily="18" charset="0"/>
              </a:rPr>
              <a:t>Proposed Usage Scenario</a:t>
            </a:r>
          </a:p>
          <a:p>
            <a:r>
              <a:rPr lang="en-IN" sz="2000" b="1" u="sng" dirty="0">
                <a:latin typeface="Times New Roman" panose="02020603050405020304" pitchFamily="18" charset="0"/>
                <a:cs typeface="Times New Roman" panose="02020603050405020304" pitchFamily="18" charset="0"/>
              </a:rPr>
              <a:t>Step 1: Feature Extraction:</a:t>
            </a:r>
          </a:p>
          <a:p>
            <a:r>
              <a:rPr lang="en-US" sz="2000" dirty="0">
                <a:latin typeface="Times New Roman" panose="02020603050405020304" pitchFamily="18" charset="0"/>
                <a:cs typeface="Times New Roman" panose="02020603050405020304" pitchFamily="18" charset="0"/>
              </a:rPr>
              <a:t>  The input audio query is converted into feature representations (e.g., MFCC or spectrogram).</a:t>
            </a:r>
            <a:endParaRPr lang="en-IN" sz="2000" b="1" u="sng" dirty="0">
              <a:latin typeface="Times New Roman" panose="02020603050405020304" pitchFamily="18" charset="0"/>
              <a:cs typeface="Times New Roman" panose="02020603050405020304" pitchFamily="18" charset="0"/>
            </a:endParaRPr>
          </a:p>
          <a:p>
            <a:endParaRPr lang="en-IN" sz="2000" b="1" u="sng" dirty="0">
              <a:solidFill>
                <a:schemeClr val="tx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5B0FA75-CB2B-215D-F8A7-6B34BA22B071}"/>
              </a:ext>
            </a:extLst>
          </p:cNvPr>
          <p:cNvSpPr txBox="1"/>
          <p:nvPr/>
        </p:nvSpPr>
        <p:spPr>
          <a:xfrm>
            <a:off x="838200" y="5943600"/>
            <a:ext cx="6096000" cy="400110"/>
          </a:xfrm>
          <a:prstGeom prst="rect">
            <a:avLst/>
          </a:prstGeom>
          <a:noFill/>
        </p:spPr>
        <p:txBody>
          <a:bodyPr wrap="square">
            <a:spAutoFit/>
          </a:bodyPr>
          <a:lstStyle/>
          <a:p>
            <a:r>
              <a:rPr lang="en-IN" sz="2000" b="1" u="sng" dirty="0">
                <a:latin typeface="Times New Roman" panose="02020603050405020304" pitchFamily="18" charset="0"/>
                <a:cs typeface="Times New Roman" panose="02020603050405020304" pitchFamily="18" charset="0"/>
              </a:rPr>
              <a:t>Step 2: Feature Transformation</a:t>
            </a:r>
          </a:p>
        </p:txBody>
      </p:sp>
      <p:sp>
        <p:nvSpPr>
          <p:cNvPr id="15" name="TextBox 14">
            <a:extLst>
              <a:ext uri="{FF2B5EF4-FFF2-40B4-BE49-F238E27FC236}">
                <a16:creationId xmlns:a16="http://schemas.microsoft.com/office/drawing/2014/main" id="{89077339-24B1-E785-9976-42B975B5550E}"/>
              </a:ext>
            </a:extLst>
          </p:cNvPr>
          <p:cNvSpPr txBox="1"/>
          <p:nvPr/>
        </p:nvSpPr>
        <p:spPr>
          <a:xfrm>
            <a:off x="990600" y="6305490"/>
            <a:ext cx="7239001"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DNN processes these features through multiple hidden layers</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30FFAA9-3EDA-3FBE-76D4-D703D8C123BD}"/>
              </a:ext>
            </a:extLst>
          </p:cNvPr>
          <p:cNvSpPr txBox="1"/>
          <p:nvPr/>
        </p:nvSpPr>
        <p:spPr>
          <a:xfrm>
            <a:off x="838200" y="3066246"/>
            <a:ext cx="11811000" cy="1631216"/>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Working Principle in Audio</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Audio signals are first converted into feature representations such as MFCC or spectrograms.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extracted features are provided as input to the DNN model.</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hidden layers learn hierarchical representations of sound patterns and voice characteristics.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output layer performs classification or retrieves relevant audio content based on learned patterns.</a:t>
            </a:r>
          </a:p>
        </p:txBody>
      </p:sp>
    </p:spTree>
    <p:extLst>
      <p:ext uri="{BB962C8B-B14F-4D97-AF65-F5344CB8AC3E}">
        <p14:creationId xmlns:p14="http://schemas.microsoft.com/office/powerpoint/2010/main" val="2889429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893C6-EBB3-A25A-A040-5F8BA3D122E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921E284-E56B-FC50-FC19-7861A3113B29}"/>
              </a:ext>
            </a:extLst>
          </p:cNvPr>
          <p:cNvSpPr txBox="1">
            <a:spLocks noGrp="1"/>
          </p:cNvSpPr>
          <p:nvPr>
            <p:ph type="title"/>
          </p:nvPr>
        </p:nvSpPr>
        <p:spPr>
          <a:xfrm>
            <a:off x="650849" y="281940"/>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
        <p:nvSpPr>
          <p:cNvPr id="11" name="TextBox 10">
            <a:extLst>
              <a:ext uri="{FF2B5EF4-FFF2-40B4-BE49-F238E27FC236}">
                <a16:creationId xmlns:a16="http://schemas.microsoft.com/office/drawing/2014/main" id="{8D105879-3280-F0AC-A9E5-8E748A925A34}"/>
              </a:ext>
            </a:extLst>
          </p:cNvPr>
          <p:cNvSpPr txBox="1"/>
          <p:nvPr/>
        </p:nvSpPr>
        <p:spPr>
          <a:xfrm>
            <a:off x="664704" y="1144398"/>
            <a:ext cx="6096000" cy="400110"/>
          </a:xfrm>
          <a:prstGeom prst="rect">
            <a:avLst/>
          </a:prstGeom>
          <a:noFill/>
        </p:spPr>
        <p:txBody>
          <a:bodyPr wrap="square">
            <a:spAutoFit/>
          </a:bodyPr>
          <a:lstStyle/>
          <a:p>
            <a:r>
              <a:rPr lang="en-IN" sz="2000" b="1" u="sng" dirty="0">
                <a:latin typeface="Times New Roman" panose="02020603050405020304" pitchFamily="18" charset="0"/>
                <a:cs typeface="Times New Roman" panose="02020603050405020304" pitchFamily="18" charset="0"/>
              </a:rPr>
              <a:t>Step 3: Embedding Generation</a:t>
            </a:r>
          </a:p>
        </p:txBody>
      </p:sp>
      <p:sp>
        <p:nvSpPr>
          <p:cNvPr id="13" name="TextBox 12">
            <a:extLst>
              <a:ext uri="{FF2B5EF4-FFF2-40B4-BE49-F238E27FC236}">
                <a16:creationId xmlns:a16="http://schemas.microsoft.com/office/drawing/2014/main" id="{7D9D88E0-1788-0629-F1F7-A0760F25B00D}"/>
              </a:ext>
            </a:extLst>
          </p:cNvPr>
          <p:cNvSpPr txBox="1"/>
          <p:nvPr/>
        </p:nvSpPr>
        <p:spPr>
          <a:xfrm>
            <a:off x="762000" y="1449198"/>
            <a:ext cx="92964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The network identifies patterns related to voice, tone, and acoustic structure.</a:t>
            </a:r>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DDCCCF5-4E35-B6F3-1E80-DC65AC1D8F8B}"/>
              </a:ext>
            </a:extLst>
          </p:cNvPr>
          <p:cNvSpPr txBox="1"/>
          <p:nvPr/>
        </p:nvSpPr>
        <p:spPr>
          <a:xfrm>
            <a:off x="685800" y="1734888"/>
            <a:ext cx="6096000" cy="400110"/>
          </a:xfrm>
          <a:prstGeom prst="rect">
            <a:avLst/>
          </a:prstGeom>
          <a:noFill/>
        </p:spPr>
        <p:txBody>
          <a:bodyPr wrap="square">
            <a:spAutoFit/>
          </a:bodyPr>
          <a:lstStyle/>
          <a:p>
            <a:r>
              <a:rPr lang="en-IN" sz="2000" b="1" u="sng" dirty="0">
                <a:latin typeface="Times New Roman" panose="02020603050405020304" pitchFamily="18" charset="0"/>
                <a:cs typeface="Times New Roman" panose="02020603050405020304" pitchFamily="18" charset="0"/>
              </a:rPr>
              <a:t>Step 4: Retrieval</a:t>
            </a:r>
          </a:p>
        </p:txBody>
      </p:sp>
      <p:sp>
        <p:nvSpPr>
          <p:cNvPr id="17" name="TextBox 16">
            <a:extLst>
              <a:ext uri="{FF2B5EF4-FFF2-40B4-BE49-F238E27FC236}">
                <a16:creationId xmlns:a16="http://schemas.microsoft.com/office/drawing/2014/main" id="{F88CA933-9750-2A9E-A1F7-1EE1E5EC912E}"/>
              </a:ext>
            </a:extLst>
          </p:cNvPr>
          <p:cNvSpPr txBox="1"/>
          <p:nvPr/>
        </p:nvSpPr>
        <p:spPr>
          <a:xfrm>
            <a:off x="838200" y="2118718"/>
            <a:ext cx="121158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system retrieves the most relevant previously stored audio files based on similarity matching.</a:t>
            </a:r>
            <a:endParaRPr lang="en-IN"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95ABA86-E5D9-B474-347A-E6E43432173F}"/>
              </a:ext>
            </a:extLst>
          </p:cNvPr>
          <p:cNvSpPr txBox="1"/>
          <p:nvPr/>
        </p:nvSpPr>
        <p:spPr>
          <a:xfrm>
            <a:off x="762000" y="2709208"/>
            <a:ext cx="10972800"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Deep Neural Network consists of an input layer, multiple hidden layers, and an output layer connected sequentially. The input layer receives extracted feature vectors, which are passed through hidden layers where each neuron performs weighted summation followed by a non-linear activation function. As the data moves deeper through the network, it learns increasingly abstract and meaningful representations of the input features. Finally, the output layer produces a compact embedding vector, and during training, errors are propagated backward to update the weights and improve performance.</a:t>
            </a:r>
            <a:endParaRPr lang="en-IN"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CA86C1C-33D8-48FD-FDCC-A1D3F7BC2002}"/>
              </a:ext>
            </a:extLst>
          </p:cNvPr>
          <p:cNvSpPr>
            <a:spLocks noGrp="1"/>
          </p:cNvSpPr>
          <p:nvPr>
            <p:ph type="sldNum" sz="quarter" idx="7"/>
          </p:nvPr>
        </p:nvSpPr>
        <p:spPr/>
        <p:txBody>
          <a:bodyPr/>
          <a:lstStyle/>
          <a:p>
            <a:pPr marL="38100">
              <a:lnSpc>
                <a:spcPts val="1810"/>
              </a:lnSpc>
            </a:pPr>
            <a:fld id="{81D60167-4931-47E6-BA6A-407CBD079E47}" type="slidenum">
              <a:rPr lang="en-IN" spc="-50" smtClean="0"/>
              <a:t>8</a:t>
            </a:fld>
            <a:endParaRPr lang="en-IN" spc="-50" dirty="0"/>
          </a:p>
        </p:txBody>
      </p:sp>
    </p:spTree>
    <p:extLst>
      <p:ext uri="{BB962C8B-B14F-4D97-AF65-F5344CB8AC3E}">
        <p14:creationId xmlns:p14="http://schemas.microsoft.com/office/powerpoint/2010/main" val="3114170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LITERATURE</a:t>
            </a:r>
            <a:r>
              <a:rPr spc="-105" dirty="0"/>
              <a:t> </a:t>
            </a:r>
            <a:r>
              <a:rPr spc="-10" dirty="0"/>
              <a:t>SURVEY</a:t>
            </a:r>
          </a:p>
        </p:txBody>
      </p:sp>
      <p:sp>
        <p:nvSpPr>
          <p:cNvPr id="6" name="TextBox 5">
            <a:extLst>
              <a:ext uri="{FF2B5EF4-FFF2-40B4-BE49-F238E27FC236}">
                <a16:creationId xmlns:a16="http://schemas.microsoft.com/office/drawing/2014/main" id="{10F10C57-0A18-18EF-AFF2-693C63DAA4AA}"/>
              </a:ext>
            </a:extLst>
          </p:cNvPr>
          <p:cNvSpPr txBox="1"/>
          <p:nvPr/>
        </p:nvSpPr>
        <p:spPr>
          <a:xfrm>
            <a:off x="631366" y="1143000"/>
            <a:ext cx="9274633"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2. Recurrent Neural Network (RNN)</a:t>
            </a:r>
            <a:r>
              <a:rPr lang="en-IN" sz="2400" dirty="0">
                <a:solidFill>
                  <a:srgbClr val="FF0000"/>
                </a:solidFill>
              </a:rPr>
              <a:t> </a:t>
            </a:r>
            <a:r>
              <a:rPr lang="en-IN" sz="2400" b="1" dirty="0">
                <a:solidFill>
                  <a:srgbClr val="FF0000"/>
                </a:solidFill>
                <a:latin typeface="Times New Roman" panose="02020603050405020304" pitchFamily="18" charset="0"/>
                <a:cs typeface="Times New Roman" panose="02020603050405020304" pitchFamily="18" charset="0"/>
              </a:rPr>
              <a:t>[1, 2, 3, 4, 6, 7, 8, 10, 11, 12]</a:t>
            </a:r>
          </a:p>
        </p:txBody>
      </p:sp>
      <p:sp>
        <p:nvSpPr>
          <p:cNvPr id="5" name="TextBox 4">
            <a:extLst>
              <a:ext uri="{FF2B5EF4-FFF2-40B4-BE49-F238E27FC236}">
                <a16:creationId xmlns:a16="http://schemas.microsoft.com/office/drawing/2014/main" id="{2BB0DD46-5A38-3D56-17E6-CA7A33714120}"/>
              </a:ext>
            </a:extLst>
          </p:cNvPr>
          <p:cNvSpPr txBox="1"/>
          <p:nvPr/>
        </p:nvSpPr>
        <p:spPr>
          <a:xfrm>
            <a:off x="631366" y="1524000"/>
            <a:ext cx="11049000" cy="1631216"/>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Recurrent Neural Networks (RNN) are specifically designed to handle sequential data such as audio signals and speech. Unlike traditional DNN, RNN maintains a memory of previous inputs using hidden states, making it highly suitable for time-dependent audio processing tasks.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audio-based systems, RNN captures temporal dependencies in sound waves, helping the model understand patterns over time such as speech flow, tone variation, and acoustic transitions.</a:t>
            </a:r>
          </a:p>
        </p:txBody>
      </p:sp>
      <p:sp>
        <p:nvSpPr>
          <p:cNvPr id="7" name="TextBox 6">
            <a:extLst>
              <a:ext uri="{FF2B5EF4-FFF2-40B4-BE49-F238E27FC236}">
                <a16:creationId xmlns:a16="http://schemas.microsoft.com/office/drawing/2014/main" id="{C2EEAC76-1F82-4743-DA42-32D52240D2DF}"/>
              </a:ext>
            </a:extLst>
          </p:cNvPr>
          <p:cNvSpPr txBox="1"/>
          <p:nvPr/>
        </p:nvSpPr>
        <p:spPr>
          <a:xfrm>
            <a:off x="762000" y="3048000"/>
            <a:ext cx="11049000" cy="2246769"/>
          </a:xfrm>
          <a:prstGeom prst="rect">
            <a:avLst/>
          </a:prstGeom>
          <a:noFill/>
        </p:spPr>
        <p:txBody>
          <a:bodyPr wrap="square">
            <a:spAutoFit/>
          </a:bodyPr>
          <a:lstStyle/>
          <a:p>
            <a:pPr algn="just">
              <a:buNone/>
            </a:pPr>
            <a:r>
              <a:rPr lang="en-US" sz="2000" b="1" dirty="0">
                <a:solidFill>
                  <a:srgbClr val="FF0000"/>
                </a:solidFill>
                <a:latin typeface="Times New Roman" panose="02020603050405020304" pitchFamily="18" charset="0"/>
                <a:cs typeface="Times New Roman" panose="02020603050405020304" pitchFamily="18" charset="0"/>
              </a:rPr>
              <a:t>Working Principle in Audio</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Audio signals are converted into sequential feature representations (e.g., MFCC, spectrogram frames).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time step of the audio sequence is fed into the RNN.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hidden state carries information from previous time steps.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output is generated based on both current input and past contextual information.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sequential learning ability makes RNN more effective than traditional DNN for speech-based tasks.</a:t>
            </a:r>
          </a:p>
        </p:txBody>
      </p:sp>
      <p:sp>
        <p:nvSpPr>
          <p:cNvPr id="8" name="TextBox 7">
            <a:extLst>
              <a:ext uri="{FF2B5EF4-FFF2-40B4-BE49-F238E27FC236}">
                <a16:creationId xmlns:a16="http://schemas.microsoft.com/office/drawing/2014/main" id="{50DCA6A9-D2B7-11A6-63F1-61B22642F6F9}"/>
              </a:ext>
            </a:extLst>
          </p:cNvPr>
          <p:cNvSpPr txBox="1"/>
          <p:nvPr/>
        </p:nvSpPr>
        <p:spPr>
          <a:xfrm>
            <a:off x="838200" y="5181600"/>
            <a:ext cx="6096000" cy="400110"/>
          </a:xfrm>
          <a:prstGeom prst="rect">
            <a:avLst/>
          </a:prstGeom>
          <a:noFill/>
        </p:spPr>
        <p:txBody>
          <a:bodyPr wrap="square">
            <a:spAutoFit/>
          </a:bodyPr>
          <a:lstStyle/>
          <a:p>
            <a:r>
              <a:rPr lang="en-IN" sz="2000" b="1" i="0" dirty="0">
                <a:solidFill>
                  <a:srgbClr val="FF0000"/>
                </a:solidFill>
                <a:effectLst/>
                <a:latin typeface="Times New Roman" panose="02020603050405020304" pitchFamily="18" charset="0"/>
                <a:cs typeface="Times New Roman" panose="02020603050405020304" pitchFamily="18" charset="0"/>
              </a:rPr>
              <a:t>Proposed Usage Scenario</a:t>
            </a:r>
          </a:p>
        </p:txBody>
      </p:sp>
      <p:sp>
        <p:nvSpPr>
          <p:cNvPr id="10" name="TextBox 9">
            <a:extLst>
              <a:ext uri="{FF2B5EF4-FFF2-40B4-BE49-F238E27FC236}">
                <a16:creationId xmlns:a16="http://schemas.microsoft.com/office/drawing/2014/main" id="{2AD36A7D-93F8-B79A-352B-198DBFE72FFB}"/>
              </a:ext>
            </a:extLst>
          </p:cNvPr>
          <p:cNvSpPr txBox="1"/>
          <p:nvPr/>
        </p:nvSpPr>
        <p:spPr>
          <a:xfrm>
            <a:off x="914400" y="5540514"/>
            <a:ext cx="8229600"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Step 1: Input Representation</a:t>
            </a:r>
          </a:p>
          <a:p>
            <a:pPr>
              <a:buNone/>
            </a:pPr>
            <a:r>
              <a:rPr lang="en-US" sz="2000" dirty="0">
                <a:latin typeface="Times New Roman" panose="02020603050405020304" pitchFamily="18" charset="0"/>
                <a:cs typeface="Times New Roman" panose="02020603050405020304" pitchFamily="18" charset="0"/>
              </a:rPr>
              <a:t> The query audio is converted into sequential feature frames.</a:t>
            </a:r>
            <a:endParaRPr lang="en-US" sz="20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13F09C1-FA4F-A53F-1A6C-331C0222195C}"/>
              </a:ext>
            </a:extLst>
          </p:cNvPr>
          <p:cNvSpPr txBox="1"/>
          <p:nvPr/>
        </p:nvSpPr>
        <p:spPr>
          <a:xfrm>
            <a:off x="990600" y="6096000"/>
            <a:ext cx="6096000"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2: Sequential Processing</a:t>
            </a:r>
          </a:p>
          <a:p>
            <a:pPr>
              <a:buNone/>
            </a:pPr>
            <a:r>
              <a:rPr lang="en-US" sz="2000" dirty="0">
                <a:latin typeface="Times New Roman" panose="02020603050405020304" pitchFamily="18" charset="0"/>
                <a:cs typeface="Times New Roman" panose="02020603050405020304" pitchFamily="18" charset="0"/>
              </a:rPr>
              <a:t>The RNN processes the audio frame-by-frame</a:t>
            </a:r>
            <a:endParaRPr lang="en-US" sz="20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962C33BE-88AF-512B-4E52-BD614ED5DDB6}"/>
              </a:ext>
            </a:extLst>
          </p:cNvPr>
          <p:cNvSpPr>
            <a:spLocks noGrp="1"/>
          </p:cNvSpPr>
          <p:nvPr>
            <p:ph type="sldNum" sz="quarter" idx="7"/>
          </p:nvPr>
        </p:nvSpPr>
        <p:spPr/>
        <p:txBody>
          <a:bodyPr/>
          <a:lstStyle/>
          <a:p>
            <a:pPr marL="38100">
              <a:lnSpc>
                <a:spcPts val="1810"/>
              </a:lnSpc>
            </a:pPr>
            <a:fld id="{81D60167-4931-47E6-BA6A-407CBD079E47}" type="slidenum">
              <a:rPr lang="en-IN" spc="-50" smtClean="0"/>
              <a:t>9</a:t>
            </a:fld>
            <a:endParaRPr lang="en-IN" spc="-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9AC6-A124-89AE-C8BA-FA071EE614E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7CA11BB-24C3-B272-646D-BFBC0CF19BE4}"/>
              </a:ext>
            </a:extLst>
          </p:cNvPr>
          <p:cNvSpPr txBox="1">
            <a:spLocks noGrp="1"/>
          </p:cNvSpPr>
          <p:nvPr>
            <p:ph type="title"/>
          </p:nvPr>
        </p:nvSpPr>
        <p:spPr>
          <a:xfrm>
            <a:off x="650849" y="281940"/>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
        <p:nvSpPr>
          <p:cNvPr id="4" name="TextBox 3">
            <a:extLst>
              <a:ext uri="{FF2B5EF4-FFF2-40B4-BE49-F238E27FC236}">
                <a16:creationId xmlns:a16="http://schemas.microsoft.com/office/drawing/2014/main" id="{4F791156-9BFD-5A2A-D6FC-04CEB3817AB8}"/>
              </a:ext>
            </a:extLst>
          </p:cNvPr>
          <p:cNvSpPr txBox="1"/>
          <p:nvPr/>
        </p:nvSpPr>
        <p:spPr>
          <a:xfrm>
            <a:off x="914400" y="1219200"/>
            <a:ext cx="7620000" cy="70788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Step 3: Hidden State Update</a:t>
            </a:r>
            <a:endParaRPr lang="ar-AE"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hidden states capture contextual voice information across time.</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8EE0977-1236-1330-0E02-C79C50A100DE}"/>
              </a:ext>
            </a:extLst>
          </p:cNvPr>
          <p:cNvSpPr txBox="1"/>
          <p:nvPr/>
        </p:nvSpPr>
        <p:spPr>
          <a:xfrm>
            <a:off x="914400" y="2133600"/>
            <a:ext cx="6705600" cy="1015663"/>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4: Output Generation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retrieves the most relevant stored audio clips based on temporal similarity</a:t>
            </a:r>
          </a:p>
        </p:txBody>
      </p:sp>
      <p:sp>
        <p:nvSpPr>
          <p:cNvPr id="18" name="TextBox 17">
            <a:extLst>
              <a:ext uri="{FF2B5EF4-FFF2-40B4-BE49-F238E27FC236}">
                <a16:creationId xmlns:a16="http://schemas.microsoft.com/office/drawing/2014/main" id="{B4AD1700-31F2-A9F0-55EC-81A996EB011C}"/>
              </a:ext>
            </a:extLst>
          </p:cNvPr>
          <p:cNvSpPr txBox="1"/>
          <p:nvPr/>
        </p:nvSpPr>
        <p:spPr>
          <a:xfrm>
            <a:off x="914400" y="3352800"/>
            <a:ext cx="10744200"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Recurrent Neural Network processes sequential data one time step at a time while maintaining a hidden state that acts as memory. At each step, the network combines the current input with the previous hidden state to capture temporal dependencies. This allows the model to understand context in sequences such as speech or text. During training, errors are propagated backward through time to update weights and improve sequence prediction accuracy.</a:t>
            </a:r>
            <a:endParaRPr lang="en-IN"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9B0987A-508C-5D70-A6E5-5F2EDC8F09F4}"/>
              </a:ext>
            </a:extLst>
          </p:cNvPr>
          <p:cNvSpPr>
            <a:spLocks noGrp="1"/>
          </p:cNvSpPr>
          <p:nvPr>
            <p:ph type="sldNum" sz="quarter" idx="7"/>
          </p:nvPr>
        </p:nvSpPr>
        <p:spPr/>
        <p:txBody>
          <a:bodyPr/>
          <a:lstStyle/>
          <a:p>
            <a:pPr marL="38100">
              <a:lnSpc>
                <a:spcPts val="1810"/>
              </a:lnSpc>
            </a:pPr>
            <a:fld id="{81D60167-4931-47E6-BA6A-407CBD079E47}" type="slidenum">
              <a:rPr lang="en-IN" spc="-50" smtClean="0"/>
              <a:t>10</a:t>
            </a:fld>
            <a:endParaRPr lang="en-IN" spc="-50" dirty="0"/>
          </a:p>
        </p:txBody>
      </p:sp>
    </p:spTree>
    <p:extLst>
      <p:ext uri="{BB962C8B-B14F-4D97-AF65-F5344CB8AC3E}">
        <p14:creationId xmlns:p14="http://schemas.microsoft.com/office/powerpoint/2010/main" val="2690671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A0EF61-71B7-AB61-E717-45C8AD575E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B08E92-6853-3F8A-FF1F-C9515B0A28DC}"/>
              </a:ext>
            </a:extLst>
          </p:cNvPr>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LITERATURE</a:t>
            </a:r>
            <a:r>
              <a:rPr spc="-105" dirty="0"/>
              <a:t> </a:t>
            </a:r>
            <a:r>
              <a:rPr spc="-10" dirty="0"/>
              <a:t>SURVEY</a:t>
            </a:r>
          </a:p>
        </p:txBody>
      </p:sp>
      <p:sp>
        <p:nvSpPr>
          <p:cNvPr id="6" name="TextBox 5">
            <a:extLst>
              <a:ext uri="{FF2B5EF4-FFF2-40B4-BE49-F238E27FC236}">
                <a16:creationId xmlns:a16="http://schemas.microsoft.com/office/drawing/2014/main" id="{EE6E9A44-B964-1FED-87A2-E83C2A4C36A3}"/>
              </a:ext>
            </a:extLst>
          </p:cNvPr>
          <p:cNvSpPr txBox="1"/>
          <p:nvPr/>
        </p:nvSpPr>
        <p:spPr>
          <a:xfrm>
            <a:off x="533400" y="1143000"/>
            <a:ext cx="861060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3. Hierarchical Recurrent Neural Network (HRNN)</a:t>
            </a:r>
            <a:r>
              <a:rPr lang="en-IN" sz="2400" dirty="0"/>
              <a:t> </a:t>
            </a:r>
            <a:r>
              <a:rPr lang="en-IN" sz="2400" b="1" dirty="0">
                <a:solidFill>
                  <a:srgbClr val="FF0000"/>
                </a:solidFill>
                <a:latin typeface="Times New Roman" panose="02020603050405020304" pitchFamily="18" charset="0"/>
                <a:cs typeface="Times New Roman" panose="02020603050405020304" pitchFamily="18" charset="0"/>
              </a:rPr>
              <a:t>[3, 6, 10]</a:t>
            </a:r>
          </a:p>
        </p:txBody>
      </p:sp>
      <p:sp>
        <p:nvSpPr>
          <p:cNvPr id="8" name="TextBox 7">
            <a:extLst>
              <a:ext uri="{FF2B5EF4-FFF2-40B4-BE49-F238E27FC236}">
                <a16:creationId xmlns:a16="http://schemas.microsoft.com/office/drawing/2014/main" id="{C1687939-3F2C-21D8-C349-C4C303D327CE}"/>
              </a:ext>
            </a:extLst>
          </p:cNvPr>
          <p:cNvSpPr txBox="1"/>
          <p:nvPr/>
        </p:nvSpPr>
        <p:spPr>
          <a:xfrm>
            <a:off x="762000" y="1524000"/>
            <a:ext cx="11277600" cy="3477875"/>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Hierarchical Recurrent Neural Networks (HRNNs) are an advanced form of RNN designed to model long sequential data by learning at multiple hierarchical levels. Unlike standard RNNs that process sequences at a single level, HRNNs divide sequences into smaller segments and process them in stages. This hierarchical structure helps capture both short-term and long-term dependencies effectively. HRNNs are widely used in speech recognition.</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multimodal information retrieval systems, HRNNs enable more effective contextual understanding by decomposing complex sequential data into structured temporal representations. By modeling fine-grained temporal patterns as well as broader contextual dynamics, HRNNs improve the system’s ability to interpret semantic relationships across speech and text modalities. This hierarchical approach addresses the limitations of flat sequence models and enhances performance in tasks that require deep temporal reasoning.</a:t>
            </a:r>
          </a:p>
        </p:txBody>
      </p:sp>
      <p:sp>
        <p:nvSpPr>
          <p:cNvPr id="11" name="TextBox 10">
            <a:extLst>
              <a:ext uri="{FF2B5EF4-FFF2-40B4-BE49-F238E27FC236}">
                <a16:creationId xmlns:a16="http://schemas.microsoft.com/office/drawing/2014/main" id="{325F76B1-9CD1-74AE-D532-2C1B50336CA7}"/>
              </a:ext>
            </a:extLst>
          </p:cNvPr>
          <p:cNvSpPr txBox="1"/>
          <p:nvPr/>
        </p:nvSpPr>
        <p:spPr>
          <a:xfrm>
            <a:off x="914400" y="5029200"/>
            <a:ext cx="8915400" cy="132343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Working Principle in Audio</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Audio signals are divided into small frames or segments (e.g., MFCC frames).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lower-level RNN processes frame-level audio features.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3" name="Rectangle 2">
            <a:extLst>
              <a:ext uri="{FF2B5EF4-FFF2-40B4-BE49-F238E27FC236}">
                <a16:creationId xmlns:a16="http://schemas.microsoft.com/office/drawing/2014/main" id="{D0ED92F6-9B3F-A719-40E6-DAE61B6B1386}"/>
              </a:ext>
            </a:extLst>
          </p:cNvPr>
          <p:cNvSpPr>
            <a:spLocks noChangeArrowheads="1"/>
          </p:cNvSpPr>
          <p:nvPr/>
        </p:nvSpPr>
        <p:spPr bwMode="auto">
          <a:xfrm>
            <a:off x="914400" y="5867400"/>
            <a:ext cx="85234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higher-level RNN captures long-term dependencies across segments.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output layer performs classification or retrieves relevant audio content.</a:t>
            </a:r>
          </a:p>
        </p:txBody>
      </p:sp>
      <p:sp>
        <p:nvSpPr>
          <p:cNvPr id="3" name="Slide Number Placeholder 2">
            <a:extLst>
              <a:ext uri="{FF2B5EF4-FFF2-40B4-BE49-F238E27FC236}">
                <a16:creationId xmlns:a16="http://schemas.microsoft.com/office/drawing/2014/main" id="{CC9B2489-40E7-8F0D-DF36-D968A47EFEE4}"/>
              </a:ext>
            </a:extLst>
          </p:cNvPr>
          <p:cNvSpPr>
            <a:spLocks noGrp="1"/>
          </p:cNvSpPr>
          <p:nvPr>
            <p:ph type="sldNum" sz="quarter" idx="7"/>
          </p:nvPr>
        </p:nvSpPr>
        <p:spPr/>
        <p:txBody>
          <a:bodyPr/>
          <a:lstStyle/>
          <a:p>
            <a:pPr marL="38100">
              <a:lnSpc>
                <a:spcPts val="1810"/>
              </a:lnSpc>
            </a:pPr>
            <a:fld id="{81D60167-4931-47E6-BA6A-407CBD079E47}" type="slidenum">
              <a:rPr lang="en-IN" spc="-50" smtClean="0"/>
              <a:t>11</a:t>
            </a:fld>
            <a:endParaRPr lang="en-IN" spc="-50" dirty="0"/>
          </a:p>
        </p:txBody>
      </p:sp>
    </p:spTree>
    <p:extLst>
      <p:ext uri="{BB962C8B-B14F-4D97-AF65-F5344CB8AC3E}">
        <p14:creationId xmlns:p14="http://schemas.microsoft.com/office/powerpoint/2010/main" val="4083951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LITERATURE</a:t>
            </a:r>
            <a:r>
              <a:rPr spc="-105" dirty="0"/>
              <a:t> </a:t>
            </a:r>
            <a:r>
              <a:rPr spc="-10" dirty="0"/>
              <a:t>SURVEY</a:t>
            </a:r>
          </a:p>
        </p:txBody>
      </p:sp>
      <p:sp>
        <p:nvSpPr>
          <p:cNvPr id="11" name="TextBox 10">
            <a:extLst>
              <a:ext uri="{FF2B5EF4-FFF2-40B4-BE49-F238E27FC236}">
                <a16:creationId xmlns:a16="http://schemas.microsoft.com/office/drawing/2014/main" id="{3C422AA2-A0FF-433C-7AFA-337DD0AC5D19}"/>
              </a:ext>
            </a:extLst>
          </p:cNvPr>
          <p:cNvSpPr txBox="1"/>
          <p:nvPr/>
        </p:nvSpPr>
        <p:spPr>
          <a:xfrm>
            <a:off x="685800" y="2765792"/>
            <a:ext cx="10734964" cy="132343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3: Higher-Level RNN</a:t>
            </a:r>
          </a:p>
          <a:p>
            <a:r>
              <a:rPr lang="en-US" sz="2000" dirty="0">
                <a:latin typeface="Times New Roman" panose="02020603050405020304" pitchFamily="18" charset="0"/>
                <a:cs typeface="Times New Roman" panose="02020603050405020304" pitchFamily="18" charset="0"/>
              </a:rPr>
              <a:t>The higher-level RNN captures long-term voice patterns and contextual meaning.</a:t>
            </a:r>
          </a:p>
          <a:p>
            <a:pPr>
              <a:buNone/>
            </a:pPr>
            <a:r>
              <a:rPr lang="en-US" sz="2000" b="1" dirty="0">
                <a:latin typeface="Times New Roman" panose="02020603050405020304" pitchFamily="18" charset="0"/>
                <a:cs typeface="Times New Roman" panose="02020603050405020304" pitchFamily="18" charset="0"/>
              </a:rPr>
              <a:t>Step 4: Output Layer</a:t>
            </a:r>
          </a:p>
          <a:p>
            <a:r>
              <a:rPr lang="en-US" sz="2000" dirty="0">
                <a:latin typeface="Times New Roman" panose="02020603050405020304" pitchFamily="18" charset="0"/>
                <a:cs typeface="Times New Roman" panose="02020603050405020304" pitchFamily="18" charset="0"/>
              </a:rPr>
              <a:t>The system retrieves the most relevant stored audio clips based on deep contextual similarity.</a:t>
            </a:r>
          </a:p>
        </p:txBody>
      </p:sp>
      <p:sp>
        <p:nvSpPr>
          <p:cNvPr id="8" name="TextBox 7">
            <a:extLst>
              <a:ext uri="{FF2B5EF4-FFF2-40B4-BE49-F238E27FC236}">
                <a16:creationId xmlns:a16="http://schemas.microsoft.com/office/drawing/2014/main" id="{16AC54C6-5736-1191-516B-5A73673AD6A9}"/>
              </a:ext>
            </a:extLst>
          </p:cNvPr>
          <p:cNvSpPr txBox="1"/>
          <p:nvPr/>
        </p:nvSpPr>
        <p:spPr>
          <a:xfrm>
            <a:off x="609600" y="1269831"/>
            <a:ext cx="6096000" cy="400110"/>
          </a:xfrm>
          <a:prstGeom prst="rect">
            <a:avLst/>
          </a:prstGeom>
          <a:noFill/>
        </p:spPr>
        <p:txBody>
          <a:bodyPr wrap="square">
            <a:spAutoFit/>
          </a:bodyPr>
          <a:lstStyle/>
          <a:p>
            <a:r>
              <a:rPr lang="en-IN" sz="2000" b="1" dirty="0">
                <a:solidFill>
                  <a:srgbClr val="FF0000"/>
                </a:solidFill>
                <a:latin typeface="Times New Roman" panose="02020603050405020304" pitchFamily="18" charset="0"/>
                <a:cs typeface="Times New Roman" panose="02020603050405020304" pitchFamily="18" charset="0"/>
              </a:rPr>
              <a:t>Proposed Usage Scenario</a:t>
            </a:r>
          </a:p>
        </p:txBody>
      </p:sp>
      <p:sp>
        <p:nvSpPr>
          <p:cNvPr id="10" name="TextBox 9">
            <a:extLst>
              <a:ext uri="{FF2B5EF4-FFF2-40B4-BE49-F238E27FC236}">
                <a16:creationId xmlns:a16="http://schemas.microsoft.com/office/drawing/2014/main" id="{72ECDFEB-B515-A747-1C21-BF939A0C7078}"/>
              </a:ext>
            </a:extLst>
          </p:cNvPr>
          <p:cNvSpPr txBox="1"/>
          <p:nvPr/>
        </p:nvSpPr>
        <p:spPr>
          <a:xfrm>
            <a:off x="685800" y="1543615"/>
            <a:ext cx="8763000"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 Input Segmentation</a:t>
            </a:r>
          </a:p>
          <a:p>
            <a:r>
              <a:rPr lang="en-US" sz="2000" dirty="0">
                <a:latin typeface="Times New Roman" panose="02020603050405020304" pitchFamily="18" charset="0"/>
                <a:cs typeface="Times New Roman" panose="02020603050405020304" pitchFamily="18" charset="0"/>
              </a:rPr>
              <a:t>The input audio is divided into sequential frames.</a:t>
            </a:r>
          </a:p>
          <a:p>
            <a:pPr>
              <a:buNone/>
            </a:pPr>
            <a:r>
              <a:rPr lang="en-US" sz="2000" b="1" dirty="0">
                <a:latin typeface="Times New Roman" panose="02020603050405020304" pitchFamily="18" charset="0"/>
                <a:cs typeface="Times New Roman" panose="02020603050405020304" pitchFamily="18" charset="0"/>
              </a:rPr>
              <a:t>Step 2: Lower-Level RNN</a:t>
            </a:r>
          </a:p>
          <a:p>
            <a:pPr>
              <a:buNone/>
            </a:pPr>
            <a:r>
              <a:rPr lang="en-US" sz="2000" dirty="0">
                <a:latin typeface="Times New Roman" panose="02020603050405020304" pitchFamily="18" charset="0"/>
                <a:cs typeface="Times New Roman" panose="02020603050405020304" pitchFamily="18" charset="0"/>
              </a:rPr>
              <a:t>The lower-level RNN analyzes short-term acoustic features.</a:t>
            </a:r>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AC62AAC-38F6-4211-BA4B-37FC54C94275}"/>
              </a:ext>
            </a:extLst>
          </p:cNvPr>
          <p:cNvSpPr txBox="1"/>
          <p:nvPr/>
        </p:nvSpPr>
        <p:spPr>
          <a:xfrm>
            <a:off x="665591" y="4007584"/>
            <a:ext cx="11135760"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Hierarchical Recurrent Neural Network processes long sequences by dividing them into smaller segments and modeling them at multiple levels. The lower-level RNN captures short-term patterns within each segment, while the higher-level RNN learns long-term dependencies across segments. This hierarchical structure improves memory efficiency and contextual understanding. During training, errors are propagated through both levels to optimize the model and enhance sequence prediction performance.</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EBD0948D-0F1D-0D9B-2977-D95CBF19E4BE}"/>
              </a:ext>
            </a:extLst>
          </p:cNvPr>
          <p:cNvSpPr>
            <a:spLocks noGrp="1"/>
          </p:cNvSpPr>
          <p:nvPr>
            <p:ph type="sldNum" sz="quarter" idx="7"/>
          </p:nvPr>
        </p:nvSpPr>
        <p:spPr/>
        <p:txBody>
          <a:bodyPr/>
          <a:lstStyle/>
          <a:p>
            <a:pPr marL="38100">
              <a:lnSpc>
                <a:spcPts val="1810"/>
              </a:lnSpc>
            </a:pPr>
            <a:fld id="{81D60167-4931-47E6-BA6A-407CBD079E47}" type="slidenum">
              <a:rPr lang="en-IN" spc="-50" smtClean="0"/>
              <a:t>12</a:t>
            </a:fld>
            <a:endParaRPr lang="en-IN" spc="-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LITERATURE</a:t>
            </a:r>
            <a:r>
              <a:rPr spc="-105" dirty="0"/>
              <a:t> </a:t>
            </a:r>
            <a:r>
              <a:rPr spc="-10" dirty="0"/>
              <a:t>SURVEY</a:t>
            </a:r>
          </a:p>
        </p:txBody>
      </p:sp>
      <p:sp>
        <p:nvSpPr>
          <p:cNvPr id="6" name="TextBox 5">
            <a:extLst>
              <a:ext uri="{FF2B5EF4-FFF2-40B4-BE49-F238E27FC236}">
                <a16:creationId xmlns:a16="http://schemas.microsoft.com/office/drawing/2014/main" id="{1624A27A-B657-C04B-0155-4B9478CCE6F9}"/>
              </a:ext>
            </a:extLst>
          </p:cNvPr>
          <p:cNvSpPr txBox="1"/>
          <p:nvPr/>
        </p:nvSpPr>
        <p:spPr>
          <a:xfrm>
            <a:off x="533400" y="1066800"/>
            <a:ext cx="9503233" cy="461665"/>
          </a:xfrm>
          <a:prstGeom prst="rect">
            <a:avLst/>
          </a:prstGeom>
          <a:noFill/>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4. Long Short-Term Memory (LSTM)</a:t>
            </a:r>
            <a:r>
              <a:rPr lang="en-IN" sz="2400" dirty="0"/>
              <a:t> </a:t>
            </a:r>
            <a:r>
              <a:rPr lang="en-IN" sz="2400" b="1" dirty="0">
                <a:solidFill>
                  <a:srgbClr val="FF0000"/>
                </a:solidFill>
                <a:latin typeface="Times New Roman" panose="02020603050405020304" pitchFamily="18" charset="0"/>
                <a:cs typeface="Times New Roman" panose="02020603050405020304" pitchFamily="18" charset="0"/>
              </a:rPr>
              <a:t>[1, 2, 3, 4, 6, 7, 8, 10, 11, 12]</a:t>
            </a:r>
          </a:p>
        </p:txBody>
      </p:sp>
      <p:sp>
        <p:nvSpPr>
          <p:cNvPr id="8" name="TextBox 7">
            <a:extLst>
              <a:ext uri="{FF2B5EF4-FFF2-40B4-BE49-F238E27FC236}">
                <a16:creationId xmlns:a16="http://schemas.microsoft.com/office/drawing/2014/main" id="{73B5BC70-5382-E135-83C8-52B49252A4DB}"/>
              </a:ext>
            </a:extLst>
          </p:cNvPr>
          <p:cNvSpPr txBox="1"/>
          <p:nvPr/>
        </p:nvSpPr>
        <p:spPr>
          <a:xfrm>
            <a:off x="914400" y="1482566"/>
            <a:ext cx="10722433" cy="3170099"/>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Long Short-Term Memory (LSTM) is a special type of Recurrent Neural Network designed to overcome the vanishing gradient problem in traditional RNNs. LSTM introduces memory cells and gating mechanisms to control the flow of information. It can capture long-term dependencies in sequential data more effectively than standard RNNs. LSTM is widely used in speech recognition, text prediction and machine translation</a:t>
            </a:r>
            <a:r>
              <a:rPr lang="en-US" sz="2000" dirty="0"/>
              <a:t>.</a:t>
            </a: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multimodal information retrieval systems, LSTMs play a crucial role in modeling long-range temporal dependencies across speech, text, and visual modalities. Their ability to maintain contextual continuity over extended sequences allows systems to generate more coherent and semantically meaningful outputs. As a result, LSTM-based architectures have significantly improved performance in tasks that require understanding temporal context and sequence structure.</a:t>
            </a:r>
          </a:p>
        </p:txBody>
      </p:sp>
      <p:sp>
        <p:nvSpPr>
          <p:cNvPr id="7" name="TextBox 6">
            <a:extLst>
              <a:ext uri="{FF2B5EF4-FFF2-40B4-BE49-F238E27FC236}">
                <a16:creationId xmlns:a16="http://schemas.microsoft.com/office/drawing/2014/main" id="{71A1DF3C-00D3-18B5-84F9-3AAB6A41D7B5}"/>
              </a:ext>
            </a:extLst>
          </p:cNvPr>
          <p:cNvSpPr txBox="1"/>
          <p:nvPr/>
        </p:nvSpPr>
        <p:spPr>
          <a:xfrm>
            <a:off x="914400" y="4466273"/>
            <a:ext cx="9982200" cy="1938992"/>
          </a:xfrm>
          <a:prstGeom prst="rect">
            <a:avLst/>
          </a:prstGeom>
          <a:noFill/>
        </p:spPr>
        <p:txBody>
          <a:bodyPr wrap="square">
            <a:spAutoFit/>
          </a:bodyPr>
          <a:lstStyle/>
          <a:p>
            <a:pPr algn="just">
              <a:buNone/>
            </a:pPr>
            <a:r>
              <a:rPr lang="en-US" sz="2000" b="1" dirty="0">
                <a:solidFill>
                  <a:srgbClr val="FF0000"/>
                </a:solidFill>
                <a:latin typeface="Times New Roman" panose="02020603050405020304" pitchFamily="18" charset="0"/>
                <a:cs typeface="Times New Roman" panose="02020603050405020304" pitchFamily="18" charset="0"/>
              </a:rPr>
              <a:t>Working Principle in Audio</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Audio signals are first converted into feature representations (e.g., MFCC or spectrogram).</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sequential features are given as input to the LSTM network.</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forget gate removes irrelevant information from previous states.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input gate updates the memory with new important audio features.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output gate generates the hidden state for prediction or retrieval.</a:t>
            </a:r>
          </a:p>
        </p:txBody>
      </p:sp>
      <p:sp>
        <p:nvSpPr>
          <p:cNvPr id="3" name="Slide Number Placeholder 2">
            <a:extLst>
              <a:ext uri="{FF2B5EF4-FFF2-40B4-BE49-F238E27FC236}">
                <a16:creationId xmlns:a16="http://schemas.microsoft.com/office/drawing/2014/main" id="{DEBC13CF-A880-E875-9D67-9BE0C8226CFC}"/>
              </a:ext>
            </a:extLst>
          </p:cNvPr>
          <p:cNvSpPr>
            <a:spLocks noGrp="1"/>
          </p:cNvSpPr>
          <p:nvPr>
            <p:ph type="sldNum" sz="quarter" idx="7"/>
          </p:nvPr>
        </p:nvSpPr>
        <p:spPr/>
        <p:txBody>
          <a:bodyPr/>
          <a:lstStyle/>
          <a:p>
            <a:pPr marL="38100">
              <a:lnSpc>
                <a:spcPts val="1810"/>
              </a:lnSpc>
            </a:pPr>
            <a:fld id="{81D60167-4931-47E6-BA6A-407CBD079E47}" type="slidenum">
              <a:rPr lang="en-IN" spc="-50" smtClean="0"/>
              <a:t>13</a:t>
            </a:fld>
            <a:endParaRPr lang="en-IN" spc="-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D9296-FC2D-53C6-6B30-379D5C4576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FF2675D-73B3-99D4-5389-FD3D567B8C8D}"/>
              </a:ext>
            </a:extLst>
          </p:cNvPr>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LITERATURE</a:t>
            </a:r>
            <a:r>
              <a:rPr spc="-105" dirty="0"/>
              <a:t> </a:t>
            </a:r>
            <a:r>
              <a:rPr spc="-10" dirty="0"/>
              <a:t>SURVEY</a:t>
            </a:r>
          </a:p>
        </p:txBody>
      </p:sp>
      <p:sp>
        <p:nvSpPr>
          <p:cNvPr id="5" name="TextBox 4">
            <a:extLst>
              <a:ext uri="{FF2B5EF4-FFF2-40B4-BE49-F238E27FC236}">
                <a16:creationId xmlns:a16="http://schemas.microsoft.com/office/drawing/2014/main" id="{FF30FAFB-F7A8-3776-F69F-4CB36511238B}"/>
              </a:ext>
            </a:extLst>
          </p:cNvPr>
          <p:cNvSpPr txBox="1"/>
          <p:nvPr/>
        </p:nvSpPr>
        <p:spPr>
          <a:xfrm>
            <a:off x="762000" y="1992392"/>
            <a:ext cx="10896600" cy="1938992"/>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Step 2: LSTM Cell Processing</a:t>
            </a:r>
          </a:p>
          <a:p>
            <a:pPr algn="just">
              <a:buNone/>
            </a:pPr>
            <a:r>
              <a:rPr lang="en-US" sz="2000" dirty="0">
                <a:latin typeface="Times New Roman" panose="02020603050405020304" pitchFamily="18" charset="0"/>
                <a:cs typeface="Times New Roman" panose="02020603050405020304" pitchFamily="18" charset="0"/>
              </a:rPr>
              <a:t>The LSTM processes the sequence while maintaining long-term memory.</a:t>
            </a:r>
            <a:endParaRPr lang="ar-AE" sz="2000" dirty="0">
              <a:latin typeface="Times New Roman" panose="02020603050405020304" pitchFamily="18" charset="0"/>
              <a:cs typeface="Times New Roman" panose="02020603050405020304" pitchFamily="18" charset="0"/>
            </a:endParaRPr>
          </a:p>
          <a:p>
            <a:pPr algn="just">
              <a:buNone/>
            </a:pPr>
            <a:r>
              <a:rPr lang="en-IN" sz="2000" b="1" dirty="0">
                <a:latin typeface="Times New Roman" panose="02020603050405020304" pitchFamily="18" charset="0"/>
                <a:cs typeface="Times New Roman" panose="02020603050405020304" pitchFamily="18" charset="0"/>
              </a:rPr>
              <a:t>Step 3: Gate Mechanisms</a:t>
            </a:r>
          </a:p>
          <a:p>
            <a:pPr algn="just">
              <a:buNone/>
            </a:pPr>
            <a:r>
              <a:rPr lang="en-US" sz="2000" dirty="0">
                <a:latin typeface="Times New Roman" panose="02020603050405020304" pitchFamily="18" charset="0"/>
                <a:cs typeface="Times New Roman" panose="02020603050405020304" pitchFamily="18" charset="0"/>
              </a:rPr>
              <a:t>The model captures contextual audio information.</a:t>
            </a:r>
            <a:endParaRPr lang="en-IN" sz="2000" dirty="0">
              <a:latin typeface="Times New Roman" panose="02020603050405020304" pitchFamily="18" charset="0"/>
              <a:cs typeface="Times New Roman" panose="02020603050405020304" pitchFamily="18" charset="0"/>
            </a:endParaRPr>
          </a:p>
          <a:p>
            <a:pPr algn="just">
              <a:buNone/>
            </a:pPr>
            <a:r>
              <a:rPr lang="en-IN" sz="2000" b="1" dirty="0">
                <a:latin typeface="Times New Roman" panose="02020603050405020304" pitchFamily="18" charset="0"/>
                <a:cs typeface="Times New Roman" panose="02020603050405020304" pitchFamily="18" charset="0"/>
              </a:rPr>
              <a:t>Step 4: Output Generation</a:t>
            </a:r>
          </a:p>
          <a:p>
            <a:pPr algn="just">
              <a:buNone/>
            </a:pPr>
            <a:r>
              <a:rPr lang="en-US" sz="2000" dirty="0">
                <a:latin typeface="Times New Roman" panose="02020603050405020304" pitchFamily="18" charset="0"/>
                <a:cs typeface="Times New Roman" panose="02020603050405020304" pitchFamily="18" charset="0"/>
              </a:rPr>
              <a:t>The system retrieves the most relevant stored audio clips based on learned temporal similarity.</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7FA736D-214B-D7B7-F29F-E2FE73136681}"/>
              </a:ext>
            </a:extLst>
          </p:cNvPr>
          <p:cNvSpPr txBox="1"/>
          <p:nvPr/>
        </p:nvSpPr>
        <p:spPr>
          <a:xfrm>
            <a:off x="609600" y="1169074"/>
            <a:ext cx="6096000" cy="400110"/>
          </a:xfrm>
          <a:prstGeom prst="rect">
            <a:avLst/>
          </a:prstGeom>
          <a:noFill/>
        </p:spPr>
        <p:txBody>
          <a:bodyPr wrap="square">
            <a:spAutoFit/>
          </a:bodyPr>
          <a:lstStyle/>
          <a:p>
            <a:r>
              <a:rPr lang="en-IN" sz="2000" b="1" dirty="0">
                <a:solidFill>
                  <a:srgbClr val="FF0000"/>
                </a:solidFill>
                <a:latin typeface="Times New Roman" panose="02020603050405020304" pitchFamily="18" charset="0"/>
                <a:cs typeface="Times New Roman" panose="02020603050405020304" pitchFamily="18" charset="0"/>
              </a:rPr>
              <a:t>Proposed Usage Scenario</a:t>
            </a:r>
          </a:p>
        </p:txBody>
      </p:sp>
      <p:sp>
        <p:nvSpPr>
          <p:cNvPr id="9" name="TextBox 8">
            <a:extLst>
              <a:ext uri="{FF2B5EF4-FFF2-40B4-BE49-F238E27FC236}">
                <a16:creationId xmlns:a16="http://schemas.microsoft.com/office/drawing/2014/main" id="{1258EFE7-8168-AF54-C684-B71F1BD6F873}"/>
              </a:ext>
            </a:extLst>
          </p:cNvPr>
          <p:cNvSpPr txBox="1"/>
          <p:nvPr/>
        </p:nvSpPr>
        <p:spPr>
          <a:xfrm>
            <a:off x="762000" y="1416784"/>
            <a:ext cx="9486900"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 Input Representation</a:t>
            </a:r>
          </a:p>
          <a:p>
            <a:pPr>
              <a:buNone/>
            </a:pPr>
            <a:r>
              <a:rPr lang="en-US" sz="2000" dirty="0">
                <a:latin typeface="Times New Roman" panose="02020603050405020304" pitchFamily="18" charset="0"/>
                <a:cs typeface="Times New Roman" panose="02020603050405020304" pitchFamily="18" charset="0"/>
              </a:rPr>
              <a:t>The input audio is converted into sequential feature representations.</a:t>
            </a: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3F0278B-99EA-616B-E729-F70600A629D8}"/>
              </a:ext>
            </a:extLst>
          </p:cNvPr>
          <p:cNvSpPr txBox="1"/>
          <p:nvPr/>
        </p:nvSpPr>
        <p:spPr>
          <a:xfrm>
            <a:off x="762000" y="3931384"/>
            <a:ext cx="10896600"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An LSTM processes sequential data using a memory cell that maintains long-term information across time steps. At each step, three gates (forget, input, and output) regulate how information flows through the cell. The cell state preserves important information while discarding irrelevant details, preventing vanishing gradients. During training, errors are propagated backward through time to update weights and improve sequence prediction accuracy.</a:t>
            </a:r>
            <a:endParaRPr lang="en-IN"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6C3A16B-2B2B-E670-C3B4-1FAA74C436EA}"/>
              </a:ext>
            </a:extLst>
          </p:cNvPr>
          <p:cNvSpPr>
            <a:spLocks noGrp="1"/>
          </p:cNvSpPr>
          <p:nvPr>
            <p:ph type="sldNum" sz="quarter" idx="7"/>
          </p:nvPr>
        </p:nvSpPr>
        <p:spPr/>
        <p:txBody>
          <a:bodyPr/>
          <a:lstStyle/>
          <a:p>
            <a:pPr marL="38100">
              <a:lnSpc>
                <a:spcPts val="1810"/>
              </a:lnSpc>
            </a:pPr>
            <a:fld id="{81D60167-4931-47E6-BA6A-407CBD079E47}" type="slidenum">
              <a:rPr lang="en-IN" spc="-50" smtClean="0"/>
              <a:t>14</a:t>
            </a:fld>
            <a:endParaRPr lang="en-IN" spc="-50" dirty="0"/>
          </a:p>
        </p:txBody>
      </p:sp>
    </p:spTree>
    <p:extLst>
      <p:ext uri="{BB962C8B-B14F-4D97-AF65-F5344CB8AC3E}">
        <p14:creationId xmlns:p14="http://schemas.microsoft.com/office/powerpoint/2010/main" val="3191479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FD8DE-0B3E-84AE-5229-4CAB7698A1B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1EFFACE-3BEB-7A84-6D43-01A01C71D281}"/>
              </a:ext>
            </a:extLst>
          </p:cNvPr>
          <p:cNvSpPr txBox="1">
            <a:spLocks noGrp="1"/>
          </p:cNvSpPr>
          <p:nvPr>
            <p:ph type="title"/>
          </p:nvPr>
        </p:nvSpPr>
        <p:spPr>
          <a:xfrm>
            <a:off x="631367" y="278880"/>
            <a:ext cx="11212830" cy="787920"/>
          </a:xfrm>
          <a:prstGeom prst="rect">
            <a:avLst/>
          </a:prstGeom>
          <a:solidFill>
            <a:srgbClr val="689C9A"/>
          </a:solidFill>
          <a:ln w="15872">
            <a:solidFill>
              <a:srgbClr val="454330"/>
            </a:solidFill>
          </a:ln>
        </p:spPr>
        <p:txBody>
          <a:bodyPr vert="horz" wrap="square" lIns="0" tIns="190500" rIns="0" bIns="208800" rtlCol="0">
            <a:spAutoFit/>
          </a:bodyPr>
          <a:lstStyle/>
          <a:p>
            <a:pPr algn="ctr">
              <a:lnSpc>
                <a:spcPct val="100000"/>
              </a:lnSpc>
              <a:spcBef>
                <a:spcPts val="1500"/>
              </a:spcBef>
            </a:pPr>
            <a:r>
              <a:rPr spc="-10" dirty="0"/>
              <a:t>LITERATURE</a:t>
            </a:r>
            <a:r>
              <a:rPr spc="-105" dirty="0"/>
              <a:t> </a:t>
            </a:r>
            <a:r>
              <a:rPr spc="-10" dirty="0"/>
              <a:t>SURVEY</a:t>
            </a:r>
          </a:p>
        </p:txBody>
      </p:sp>
      <p:sp>
        <p:nvSpPr>
          <p:cNvPr id="6" name="TextBox 5">
            <a:extLst>
              <a:ext uri="{FF2B5EF4-FFF2-40B4-BE49-F238E27FC236}">
                <a16:creationId xmlns:a16="http://schemas.microsoft.com/office/drawing/2014/main" id="{11C9DBC9-DA9A-E825-4A82-AA62E1EC47A3}"/>
              </a:ext>
            </a:extLst>
          </p:cNvPr>
          <p:cNvSpPr txBox="1"/>
          <p:nvPr/>
        </p:nvSpPr>
        <p:spPr>
          <a:xfrm>
            <a:off x="631367" y="1037666"/>
            <a:ext cx="6096000" cy="461665"/>
          </a:xfrm>
          <a:prstGeom prst="rect">
            <a:avLst/>
          </a:prstGeom>
          <a:noFill/>
        </p:spPr>
        <p:txBody>
          <a:bodyPr wrap="square">
            <a:spAutoFit/>
          </a:bodyPr>
          <a:lstStyle/>
          <a:p>
            <a:pPr algn="just"/>
            <a:r>
              <a:rPr lang="en-IN" sz="2400" b="1" dirty="0">
                <a:solidFill>
                  <a:srgbClr val="FF0000"/>
                </a:solidFill>
                <a:latin typeface="Times New Roman" panose="02020603050405020304" pitchFamily="18" charset="0"/>
                <a:cs typeface="Times New Roman" panose="02020603050405020304" pitchFamily="18" charset="0"/>
              </a:rPr>
              <a:t>5.Gated Recurrent Unit (GRU)</a:t>
            </a:r>
          </a:p>
        </p:txBody>
      </p:sp>
      <p:sp>
        <p:nvSpPr>
          <p:cNvPr id="9" name="TextBox 8">
            <a:extLst>
              <a:ext uri="{FF2B5EF4-FFF2-40B4-BE49-F238E27FC236}">
                <a16:creationId xmlns:a16="http://schemas.microsoft.com/office/drawing/2014/main" id="{F4D8F6CD-9BAE-E80F-703A-8E703F72FDEA}"/>
              </a:ext>
            </a:extLst>
          </p:cNvPr>
          <p:cNvSpPr txBox="1"/>
          <p:nvPr/>
        </p:nvSpPr>
        <p:spPr>
          <a:xfrm>
            <a:off x="762000" y="1371600"/>
            <a:ext cx="11212829"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Gated Recurrent Unit (GRU) is a simplified version of LSTM designed to handle sequential data and overcome the vanishing gradient problem. Unlike LSTM, GRU combines the forget and input gates into a single update gate, making the architecture simpler and computationally efficient. It maintains long-term dependencies while reducing model complexity. GRU is widely used in speech processing, text generation, machine translation, and time-series prediction.</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A96D311-F08F-2025-40F4-B2786DDA023A}"/>
              </a:ext>
            </a:extLst>
          </p:cNvPr>
          <p:cNvSpPr txBox="1"/>
          <p:nvPr/>
        </p:nvSpPr>
        <p:spPr>
          <a:xfrm>
            <a:off x="806858" y="3032834"/>
            <a:ext cx="11537542" cy="1938992"/>
          </a:xfrm>
          <a:prstGeom prst="rect">
            <a:avLst/>
          </a:prstGeom>
          <a:noFill/>
        </p:spPr>
        <p:txBody>
          <a:bodyPr wrap="square">
            <a:spAutoFit/>
          </a:bodyPr>
          <a:lstStyle/>
          <a:p>
            <a:pPr algn="just">
              <a:buNone/>
            </a:pPr>
            <a:r>
              <a:rPr lang="en-US" sz="2000" b="1" dirty="0">
                <a:solidFill>
                  <a:srgbClr val="FF0000"/>
                </a:solidFill>
                <a:latin typeface="Times New Roman" panose="02020603050405020304" pitchFamily="18" charset="0"/>
                <a:cs typeface="Times New Roman" panose="02020603050405020304" pitchFamily="18" charset="0"/>
              </a:rPr>
              <a:t>Working Principle in Audio</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Audio signals are converted into feature representations (e.g., MFCC or spectrogram).</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sequential features are fed into the GRU network.</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reset gate determines how much past information to forget.</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update gate controls how much new information to store.</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hidden state is updated and used for prediction or retrieval.</a:t>
            </a:r>
          </a:p>
        </p:txBody>
      </p:sp>
      <p:sp>
        <p:nvSpPr>
          <p:cNvPr id="5" name="TextBox 4">
            <a:extLst>
              <a:ext uri="{FF2B5EF4-FFF2-40B4-BE49-F238E27FC236}">
                <a16:creationId xmlns:a16="http://schemas.microsoft.com/office/drawing/2014/main" id="{0963C45E-3C5B-3F53-A0F5-98F8233FA2C0}"/>
              </a:ext>
            </a:extLst>
          </p:cNvPr>
          <p:cNvSpPr txBox="1"/>
          <p:nvPr/>
        </p:nvSpPr>
        <p:spPr>
          <a:xfrm>
            <a:off x="780473" y="5010090"/>
            <a:ext cx="6096000" cy="400110"/>
          </a:xfrm>
          <a:prstGeom prst="rect">
            <a:avLst/>
          </a:prstGeom>
          <a:noFill/>
        </p:spPr>
        <p:txBody>
          <a:bodyPr wrap="square">
            <a:spAutoFit/>
          </a:bodyPr>
          <a:lstStyle/>
          <a:p>
            <a:pPr algn="just"/>
            <a:r>
              <a:rPr lang="en-IN" sz="2000" b="1" dirty="0">
                <a:solidFill>
                  <a:srgbClr val="FF0000"/>
                </a:solidFill>
                <a:latin typeface="Times New Roman" panose="02020603050405020304" pitchFamily="18" charset="0"/>
                <a:cs typeface="Times New Roman" panose="02020603050405020304" pitchFamily="18" charset="0"/>
              </a:rPr>
              <a:t>Proposed Usage Scenario</a:t>
            </a:r>
          </a:p>
        </p:txBody>
      </p:sp>
      <p:sp>
        <p:nvSpPr>
          <p:cNvPr id="7" name="TextBox 6">
            <a:extLst>
              <a:ext uri="{FF2B5EF4-FFF2-40B4-BE49-F238E27FC236}">
                <a16:creationId xmlns:a16="http://schemas.microsoft.com/office/drawing/2014/main" id="{D7E66C8B-8A2C-BFF7-74AD-0241F9572D2B}"/>
              </a:ext>
            </a:extLst>
          </p:cNvPr>
          <p:cNvSpPr txBox="1"/>
          <p:nvPr/>
        </p:nvSpPr>
        <p:spPr>
          <a:xfrm>
            <a:off x="762000" y="5305961"/>
            <a:ext cx="10908029" cy="1323439"/>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Step 1: Input Representation</a:t>
            </a:r>
          </a:p>
          <a:p>
            <a:pPr algn="just">
              <a:buNone/>
            </a:pPr>
            <a:r>
              <a:rPr lang="en-US" sz="2000" dirty="0">
                <a:latin typeface="Times New Roman" panose="02020603050405020304" pitchFamily="18" charset="0"/>
                <a:cs typeface="Times New Roman" panose="02020603050405020304" pitchFamily="18" charset="0"/>
              </a:rPr>
              <a:t>The input audio is transformed into sequential feature vectors.</a:t>
            </a:r>
            <a:endParaRPr lang="en-IN" sz="2000" b="1" dirty="0">
              <a:latin typeface="Times New Roman" panose="02020603050405020304" pitchFamily="18" charset="0"/>
              <a:cs typeface="Times New Roman" panose="02020603050405020304" pitchFamily="18" charset="0"/>
            </a:endParaRPr>
          </a:p>
          <a:p>
            <a:pPr algn="just">
              <a:buNone/>
            </a:pPr>
            <a:r>
              <a:rPr lang="en-IN" sz="2000" b="1" dirty="0">
                <a:latin typeface="Times New Roman" panose="02020603050405020304" pitchFamily="18" charset="0"/>
                <a:cs typeface="Times New Roman" panose="02020603050405020304" pitchFamily="18" charset="0"/>
              </a:rPr>
              <a:t>Step 2: GRU Cell Processing</a:t>
            </a:r>
          </a:p>
          <a:p>
            <a:pPr algn="just">
              <a:buNone/>
            </a:pPr>
            <a:r>
              <a:rPr lang="en-US" sz="2000" dirty="0">
                <a:latin typeface="Times New Roman" panose="02020603050405020304" pitchFamily="18" charset="0"/>
                <a:cs typeface="Times New Roman" panose="02020603050405020304" pitchFamily="18" charset="0"/>
              </a:rPr>
              <a:t>The GRU processes the sequence while managing memory through update and reset gates.</a:t>
            </a:r>
            <a:endParaRPr lang="en-IN" sz="20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A3FCDEC-3AE4-B922-B691-01CF57DB07D5}"/>
              </a:ext>
            </a:extLst>
          </p:cNvPr>
          <p:cNvSpPr>
            <a:spLocks noGrp="1"/>
          </p:cNvSpPr>
          <p:nvPr>
            <p:ph type="sldNum" sz="quarter" idx="7"/>
          </p:nvPr>
        </p:nvSpPr>
        <p:spPr>
          <a:xfrm>
            <a:off x="10892028" y="6501333"/>
            <a:ext cx="320675" cy="234038"/>
          </a:xfrm>
        </p:spPr>
        <p:txBody>
          <a:bodyPr/>
          <a:lstStyle/>
          <a:p>
            <a:pPr marL="38100" algn="just">
              <a:lnSpc>
                <a:spcPts val="1810"/>
              </a:lnSpc>
            </a:pPr>
            <a:fld id="{81D60167-4931-47E6-BA6A-407CBD079E47}" type="slidenum">
              <a:rPr lang="en-IN" spc="-50" smtClean="0"/>
              <a:pPr marL="38100" algn="just">
                <a:lnSpc>
                  <a:spcPts val="1810"/>
                </a:lnSpc>
              </a:pPr>
              <a:t>15</a:t>
            </a:fld>
            <a:endParaRPr lang="en-IN" spc="-50" dirty="0"/>
          </a:p>
        </p:txBody>
      </p:sp>
    </p:spTree>
    <p:extLst>
      <p:ext uri="{BB962C8B-B14F-4D97-AF65-F5344CB8AC3E}">
        <p14:creationId xmlns:p14="http://schemas.microsoft.com/office/powerpoint/2010/main" val="629904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6D588-C92F-B1DE-82C6-A7F8066743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7A97537-BBA6-44BB-BEE4-2E2FBEBD5B46}"/>
              </a:ext>
            </a:extLst>
          </p:cNvPr>
          <p:cNvSpPr txBox="1">
            <a:spLocks noGrp="1"/>
          </p:cNvSpPr>
          <p:nvPr>
            <p:ph type="title"/>
          </p:nvPr>
        </p:nvSpPr>
        <p:spPr>
          <a:xfrm>
            <a:off x="598170"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LITERATURE</a:t>
            </a:r>
            <a:r>
              <a:rPr spc="-105" dirty="0"/>
              <a:t> </a:t>
            </a:r>
            <a:r>
              <a:rPr spc="-10" dirty="0"/>
              <a:t>SURVEY</a:t>
            </a:r>
          </a:p>
        </p:txBody>
      </p:sp>
      <p:sp>
        <p:nvSpPr>
          <p:cNvPr id="4" name="TextBox 3">
            <a:extLst>
              <a:ext uri="{FF2B5EF4-FFF2-40B4-BE49-F238E27FC236}">
                <a16:creationId xmlns:a16="http://schemas.microsoft.com/office/drawing/2014/main" id="{ADA8A752-BCF3-3EC0-220F-AE054899639E}"/>
              </a:ext>
            </a:extLst>
          </p:cNvPr>
          <p:cNvSpPr txBox="1"/>
          <p:nvPr/>
        </p:nvSpPr>
        <p:spPr>
          <a:xfrm>
            <a:off x="674255" y="1066800"/>
            <a:ext cx="10908145" cy="1938992"/>
          </a:xfrm>
          <a:prstGeom prst="rect">
            <a:avLst/>
          </a:prstGeom>
          <a:noFill/>
        </p:spPr>
        <p:txBody>
          <a:bodyPr wrap="square">
            <a:spAutoFit/>
          </a:bodyPr>
          <a:lstStyle/>
          <a:p>
            <a:pPr algn="just">
              <a:buNone/>
            </a:pPr>
            <a:endParaRPr lang="en-US" sz="2000" b="1"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Step 3: Gate Mechanisms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captures voice patterns and contextual audio features.</a:t>
            </a:r>
          </a:p>
          <a:p>
            <a:pPr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Step 4: Output Generation</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retrieves the most relevant stored audio files based on similarity matching.</a:t>
            </a:r>
          </a:p>
        </p:txBody>
      </p:sp>
      <p:sp>
        <p:nvSpPr>
          <p:cNvPr id="10" name="TextBox 9">
            <a:extLst>
              <a:ext uri="{FF2B5EF4-FFF2-40B4-BE49-F238E27FC236}">
                <a16:creationId xmlns:a16="http://schemas.microsoft.com/office/drawing/2014/main" id="{DB6CB18E-AADE-D1A3-50C2-8A5909871413}"/>
              </a:ext>
            </a:extLst>
          </p:cNvPr>
          <p:cNvSpPr txBox="1"/>
          <p:nvPr/>
        </p:nvSpPr>
        <p:spPr>
          <a:xfrm>
            <a:off x="641057" y="2483584"/>
            <a:ext cx="11093743" cy="2246769"/>
          </a:xfrm>
          <a:prstGeom prst="rect">
            <a:avLst/>
          </a:prstGeom>
          <a:noFill/>
        </p:spPr>
        <p:txBody>
          <a:bodyPr wrap="square">
            <a:spAutoFit/>
          </a:bodyPr>
          <a:lstStyle/>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GRU processes sequential data using two gates that regulate information flow through the hidden state. The update gate decides how much past information should be retained, while the reset gate controls how much past information should be forgotten. The model combines previous memory with new candidate information to produce the final hidden state. During training, errors are propagated backward through time to update the weights and improve prediction accuracy.</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365D639-BACD-8974-0793-53D6AAFC2DD3}"/>
              </a:ext>
            </a:extLst>
          </p:cNvPr>
          <p:cNvSpPr>
            <a:spLocks noGrp="1"/>
          </p:cNvSpPr>
          <p:nvPr>
            <p:ph type="sldNum" sz="quarter" idx="7"/>
          </p:nvPr>
        </p:nvSpPr>
        <p:spPr/>
        <p:txBody>
          <a:bodyPr/>
          <a:lstStyle/>
          <a:p>
            <a:pPr marL="38100">
              <a:lnSpc>
                <a:spcPts val="1810"/>
              </a:lnSpc>
            </a:pPr>
            <a:fld id="{81D60167-4931-47E6-BA6A-407CBD079E47}" type="slidenum">
              <a:rPr lang="en-IN" spc="-50" smtClean="0"/>
              <a:t>16</a:t>
            </a:fld>
            <a:endParaRPr lang="en-IN" spc="-50" dirty="0"/>
          </a:p>
        </p:txBody>
      </p:sp>
    </p:spTree>
    <p:extLst>
      <p:ext uri="{BB962C8B-B14F-4D97-AF65-F5344CB8AC3E}">
        <p14:creationId xmlns:p14="http://schemas.microsoft.com/office/powerpoint/2010/main" val="773422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EE94FE-16BD-38BC-21D1-3EEFEECC587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04D2DC7-F430-B115-D612-9D05F02D89F2}"/>
              </a:ext>
            </a:extLst>
          </p:cNvPr>
          <p:cNvSpPr txBox="1">
            <a:spLocks noGrp="1"/>
          </p:cNvSpPr>
          <p:nvPr>
            <p:ph type="title"/>
          </p:nvPr>
        </p:nvSpPr>
        <p:spPr>
          <a:xfrm>
            <a:off x="631367" y="278577"/>
            <a:ext cx="11212830" cy="788223"/>
          </a:xfrm>
          <a:prstGeom prst="rect">
            <a:avLst/>
          </a:prstGeom>
          <a:solidFill>
            <a:srgbClr val="689C9A"/>
          </a:solidFill>
          <a:ln w="15872">
            <a:solidFill>
              <a:srgbClr val="454330"/>
            </a:solidFill>
          </a:ln>
        </p:spPr>
        <p:txBody>
          <a:bodyPr vert="horz" wrap="square" lIns="0" tIns="190800" rIns="0" bIns="208800" rtlCol="0">
            <a:spAutoFit/>
          </a:bodyPr>
          <a:lstStyle/>
          <a:p>
            <a:pPr algn="ctr">
              <a:spcBef>
                <a:spcPts val="1500"/>
              </a:spcBef>
            </a:pPr>
            <a:r>
              <a:rPr lang="en-IN" spc="-10" dirty="0"/>
              <a:t>RESULT AND DISCUSSION</a:t>
            </a:r>
            <a:endParaRPr spc="-10" dirty="0"/>
          </a:p>
        </p:txBody>
      </p:sp>
      <p:graphicFrame>
        <p:nvGraphicFramePr>
          <p:cNvPr id="2" name="Table 1">
            <a:extLst>
              <a:ext uri="{FF2B5EF4-FFF2-40B4-BE49-F238E27FC236}">
                <a16:creationId xmlns:a16="http://schemas.microsoft.com/office/drawing/2014/main" id="{FC8EFBE6-E1AF-F2E0-7053-625720C82DCA}"/>
              </a:ext>
            </a:extLst>
          </p:cNvPr>
          <p:cNvGraphicFramePr>
            <a:graphicFrameLocks noGrp="1"/>
          </p:cNvGraphicFramePr>
          <p:nvPr>
            <p:extLst>
              <p:ext uri="{D42A27DB-BD31-4B8C-83A1-F6EECF244321}">
                <p14:modId xmlns:p14="http://schemas.microsoft.com/office/powerpoint/2010/main" val="3405352702"/>
              </p:ext>
            </p:extLst>
          </p:nvPr>
        </p:nvGraphicFramePr>
        <p:xfrm>
          <a:off x="1192127" y="1270899"/>
          <a:ext cx="9807745" cy="4316202"/>
        </p:xfrm>
        <a:graphic>
          <a:graphicData uri="http://schemas.openxmlformats.org/drawingml/2006/table">
            <a:tbl>
              <a:tblPr firstRow="1">
                <a:tableStyleId>{3C2FFA5D-87B4-456A-9821-1D502468CF0F}</a:tableStyleId>
              </a:tblPr>
              <a:tblGrid>
                <a:gridCol w="1961549">
                  <a:extLst>
                    <a:ext uri="{9D8B030D-6E8A-4147-A177-3AD203B41FA5}">
                      <a16:colId xmlns:a16="http://schemas.microsoft.com/office/drawing/2014/main" val="1971326399"/>
                    </a:ext>
                  </a:extLst>
                </a:gridCol>
                <a:gridCol w="1961549">
                  <a:extLst>
                    <a:ext uri="{9D8B030D-6E8A-4147-A177-3AD203B41FA5}">
                      <a16:colId xmlns:a16="http://schemas.microsoft.com/office/drawing/2014/main" val="2136819294"/>
                    </a:ext>
                  </a:extLst>
                </a:gridCol>
                <a:gridCol w="1961549">
                  <a:extLst>
                    <a:ext uri="{9D8B030D-6E8A-4147-A177-3AD203B41FA5}">
                      <a16:colId xmlns:a16="http://schemas.microsoft.com/office/drawing/2014/main" val="137796254"/>
                    </a:ext>
                  </a:extLst>
                </a:gridCol>
                <a:gridCol w="1961549">
                  <a:extLst>
                    <a:ext uri="{9D8B030D-6E8A-4147-A177-3AD203B41FA5}">
                      <a16:colId xmlns:a16="http://schemas.microsoft.com/office/drawing/2014/main" val="4111232624"/>
                    </a:ext>
                  </a:extLst>
                </a:gridCol>
                <a:gridCol w="1961549">
                  <a:extLst>
                    <a:ext uri="{9D8B030D-6E8A-4147-A177-3AD203B41FA5}">
                      <a16:colId xmlns:a16="http://schemas.microsoft.com/office/drawing/2014/main" val="3090079595"/>
                    </a:ext>
                  </a:extLst>
                </a:gridCol>
              </a:tblGrid>
              <a:tr h="1036589">
                <a:tc>
                  <a:txBody>
                    <a:bodyPr/>
                    <a:lstStyle/>
                    <a:p>
                      <a:pPr algn="ctr">
                        <a:buNone/>
                      </a:pPr>
                      <a:r>
                        <a:rPr lang="en-IN" sz="2000" b="1" dirty="0">
                          <a:latin typeface="Times New Roman" panose="02020603050405020304" pitchFamily="18" charset="0"/>
                          <a:cs typeface="Times New Roman" panose="02020603050405020304" pitchFamily="18" charset="0"/>
                        </a:rPr>
                        <a:t>ALGORITHMS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a:latin typeface="Times New Roman" panose="02020603050405020304" pitchFamily="18" charset="0"/>
                          <a:cs typeface="Times New Roman" panose="02020603050405020304" pitchFamily="18" charset="0"/>
                        </a:rPr>
                        <a:t>ACCURACY</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a:latin typeface="Times New Roman" panose="02020603050405020304" pitchFamily="18" charset="0"/>
                          <a:cs typeface="Times New Roman" panose="02020603050405020304" pitchFamily="18" charset="0"/>
                        </a:rPr>
                        <a:t>PRECISION</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a:latin typeface="Times New Roman" panose="02020603050405020304" pitchFamily="18" charset="0"/>
                          <a:cs typeface="Times New Roman" panose="02020603050405020304" pitchFamily="18" charset="0"/>
                        </a:rPr>
                        <a:t>RECALL</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a:latin typeface="Times New Roman" panose="02020603050405020304" pitchFamily="18" charset="0"/>
                          <a:cs typeface="Times New Roman" panose="02020603050405020304" pitchFamily="18" charset="0"/>
                        </a:rPr>
                        <a:t>F1-SCORE</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01542145"/>
                  </a:ext>
                </a:extLst>
              </a:tr>
              <a:tr h="585898">
                <a:tc>
                  <a:txBody>
                    <a:bodyPr/>
                    <a:lstStyle/>
                    <a:p>
                      <a:pPr algn="ctr">
                        <a:buNone/>
                      </a:pPr>
                      <a:r>
                        <a:rPr lang="en-IN" sz="2000" b="1" dirty="0">
                          <a:latin typeface="Times New Roman" panose="02020603050405020304" pitchFamily="18" charset="0"/>
                          <a:cs typeface="Times New Roman" panose="02020603050405020304" pitchFamily="18" charset="0"/>
                        </a:rPr>
                        <a:t>DNN</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78.91%</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0.7867</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0.7808</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0.7836</a:t>
                      </a:r>
                    </a:p>
                  </a:txBody>
                  <a:tcPr anchor="ctr"/>
                </a:tc>
                <a:extLst>
                  <a:ext uri="{0D108BD9-81ED-4DB2-BD59-A6C34878D82A}">
                    <a16:rowId xmlns:a16="http://schemas.microsoft.com/office/drawing/2014/main" val="1389176941"/>
                  </a:ext>
                </a:extLst>
              </a:tr>
              <a:tr h="585898">
                <a:tc>
                  <a:txBody>
                    <a:bodyPr/>
                    <a:lstStyle/>
                    <a:p>
                      <a:pPr algn="ctr">
                        <a:buNone/>
                      </a:pPr>
                      <a:r>
                        <a:rPr lang="en-IN" sz="2000" b="1" dirty="0">
                          <a:latin typeface="Times New Roman" panose="02020603050405020304" pitchFamily="18" charset="0"/>
                          <a:cs typeface="Times New Roman" panose="02020603050405020304" pitchFamily="18" charset="0"/>
                        </a:rPr>
                        <a:t>LSTM</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80.50%</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0.8568</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0.8050</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0.8023</a:t>
                      </a:r>
                    </a:p>
                  </a:txBody>
                  <a:tcPr anchor="ctr"/>
                </a:tc>
                <a:extLst>
                  <a:ext uri="{0D108BD9-81ED-4DB2-BD59-A6C34878D82A}">
                    <a16:rowId xmlns:a16="http://schemas.microsoft.com/office/drawing/2014/main" val="63725152"/>
                  </a:ext>
                </a:extLst>
              </a:tr>
              <a:tr h="585898">
                <a:tc>
                  <a:txBody>
                    <a:bodyPr/>
                    <a:lstStyle/>
                    <a:p>
                      <a:pPr algn="ctr">
                        <a:buNone/>
                      </a:pPr>
                      <a:r>
                        <a:rPr lang="en-IN" sz="2000" b="1" dirty="0">
                          <a:latin typeface="Times New Roman" panose="02020603050405020304" pitchFamily="18" charset="0"/>
                          <a:cs typeface="Times New Roman" panose="02020603050405020304" pitchFamily="18" charset="0"/>
                        </a:rPr>
                        <a:t>GRU</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93.13%</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0.8010</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0.8005</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0.8006</a:t>
                      </a:r>
                    </a:p>
                  </a:txBody>
                  <a:tcPr anchor="ctr"/>
                </a:tc>
                <a:extLst>
                  <a:ext uri="{0D108BD9-81ED-4DB2-BD59-A6C34878D82A}">
                    <a16:rowId xmlns:a16="http://schemas.microsoft.com/office/drawing/2014/main" val="1829164645"/>
                  </a:ext>
                </a:extLst>
              </a:tr>
              <a:tr h="610829">
                <a:tc>
                  <a:txBody>
                    <a:bodyPr/>
                    <a:lstStyle/>
                    <a:p>
                      <a:pPr algn="ctr">
                        <a:buNone/>
                      </a:pPr>
                      <a:r>
                        <a:rPr kumimoji="0" lang="en-IN" sz="20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RNN</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93.50%</a:t>
                      </a:r>
                    </a:p>
                  </a:txBody>
                  <a:tcPr anchor="ctr"/>
                </a:tc>
                <a:tc>
                  <a:txBody>
                    <a:bodyPr/>
                    <a:lstStyle/>
                    <a:p>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0.9403</a:t>
                      </a:r>
                      <a:endParaRPr lang="en-IN" dirty="0"/>
                    </a:p>
                  </a:txBody>
                  <a:tcPr anchor="ctr"/>
                </a:tc>
                <a:tc>
                  <a:txBody>
                    <a:bodyPr/>
                    <a:lstStyle/>
                    <a:p>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0.9350</a:t>
                      </a:r>
                      <a:endParaRPr lang="en-IN" dirty="0"/>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0.9346</a:t>
                      </a:r>
                    </a:p>
                  </a:txBody>
                  <a:tcPr anchor="ctr"/>
                </a:tc>
                <a:extLst>
                  <a:ext uri="{0D108BD9-81ED-4DB2-BD59-A6C34878D82A}">
                    <a16:rowId xmlns:a16="http://schemas.microsoft.com/office/drawing/2014/main" val="677496144"/>
                  </a:ext>
                </a:extLst>
              </a:tr>
              <a:tr h="91109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HRNN</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97.00%</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0.9723</a:t>
                      </a:r>
                    </a:p>
                  </a:txBody>
                  <a:tcPr anchor="ctr"/>
                </a:tc>
                <a:tc>
                  <a:txBody>
                    <a:bodyPr/>
                    <a:lstStyle/>
                    <a:p>
                      <a:r>
                        <a:rPr kumimoji="0" lang="en-IN"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0.9700</a:t>
                      </a:r>
                      <a:endParaRPr lang="en-IN" dirty="0"/>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0.9696</a:t>
                      </a:r>
                    </a:p>
                  </a:txBody>
                  <a:tcPr anchor="ctr"/>
                </a:tc>
                <a:extLst>
                  <a:ext uri="{0D108BD9-81ED-4DB2-BD59-A6C34878D82A}">
                    <a16:rowId xmlns:a16="http://schemas.microsoft.com/office/drawing/2014/main" val="19659835"/>
                  </a:ext>
                </a:extLst>
              </a:tr>
            </a:tbl>
          </a:graphicData>
        </a:graphic>
      </p:graphicFrame>
      <p:sp>
        <p:nvSpPr>
          <p:cNvPr id="5" name="Slide Number Placeholder 4">
            <a:extLst>
              <a:ext uri="{FF2B5EF4-FFF2-40B4-BE49-F238E27FC236}">
                <a16:creationId xmlns:a16="http://schemas.microsoft.com/office/drawing/2014/main" id="{DF1E6D3B-939D-FEFD-2487-563D9561217B}"/>
              </a:ext>
            </a:extLst>
          </p:cNvPr>
          <p:cNvSpPr>
            <a:spLocks noGrp="1"/>
          </p:cNvSpPr>
          <p:nvPr>
            <p:ph type="sldNum" sz="quarter" idx="7"/>
          </p:nvPr>
        </p:nvSpPr>
        <p:spPr/>
        <p:txBody>
          <a:bodyPr/>
          <a:lstStyle/>
          <a:p>
            <a:pPr marL="38100">
              <a:lnSpc>
                <a:spcPts val="1810"/>
              </a:lnSpc>
            </a:pPr>
            <a:fld id="{81D60167-4931-47E6-BA6A-407CBD079E47}" type="slidenum">
              <a:rPr lang="en-IN" spc="-50" smtClean="0"/>
              <a:t>17</a:t>
            </a:fld>
            <a:endParaRPr lang="en-IN" spc="-50" dirty="0"/>
          </a:p>
        </p:txBody>
      </p:sp>
    </p:spTree>
    <p:extLst>
      <p:ext uri="{BB962C8B-B14F-4D97-AF65-F5344CB8AC3E}">
        <p14:creationId xmlns:p14="http://schemas.microsoft.com/office/powerpoint/2010/main" val="413033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A0D77-C685-CDC2-E84C-93C1551A919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7F8E1E1-50C4-4410-B5C2-C5B41212BD17}"/>
              </a:ext>
            </a:extLst>
          </p:cNvPr>
          <p:cNvSpPr txBox="1">
            <a:spLocks noGrp="1"/>
          </p:cNvSpPr>
          <p:nvPr>
            <p:ph type="title"/>
          </p:nvPr>
        </p:nvSpPr>
        <p:spPr>
          <a:xfrm>
            <a:off x="631367" y="278880"/>
            <a:ext cx="11212830" cy="787920"/>
          </a:xfrm>
          <a:prstGeom prst="rect">
            <a:avLst/>
          </a:prstGeom>
          <a:solidFill>
            <a:srgbClr val="689C9A"/>
          </a:solidFill>
          <a:ln w="15872">
            <a:solidFill>
              <a:srgbClr val="454330"/>
            </a:solidFill>
          </a:ln>
        </p:spPr>
        <p:txBody>
          <a:bodyPr vert="horz" wrap="square" lIns="0" tIns="190500" rIns="0" bIns="208800" rtlCol="0">
            <a:spAutoFit/>
          </a:bodyPr>
          <a:lstStyle/>
          <a:p>
            <a:pPr algn="ctr">
              <a:lnSpc>
                <a:spcPct val="100000"/>
              </a:lnSpc>
              <a:spcBef>
                <a:spcPts val="1500"/>
              </a:spcBef>
            </a:pPr>
            <a:r>
              <a:rPr lang="en-US" spc="-10" dirty="0"/>
              <a:t>CONCLUSION</a:t>
            </a:r>
            <a:endParaRPr spc="-10" dirty="0"/>
          </a:p>
        </p:txBody>
      </p:sp>
      <p:sp>
        <p:nvSpPr>
          <p:cNvPr id="6" name="TextBox 5">
            <a:extLst>
              <a:ext uri="{FF2B5EF4-FFF2-40B4-BE49-F238E27FC236}">
                <a16:creationId xmlns:a16="http://schemas.microsoft.com/office/drawing/2014/main" id="{0B6D6BA6-8694-3879-F3D0-F66D7507048A}"/>
              </a:ext>
            </a:extLst>
          </p:cNvPr>
          <p:cNvSpPr txBox="1"/>
          <p:nvPr/>
        </p:nvSpPr>
        <p:spPr>
          <a:xfrm>
            <a:off x="631367" y="1066800"/>
            <a:ext cx="11255833" cy="4708981"/>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study focused on developing an intelligent audio search system capable of efficiently retrieving previously stored voice notes and audio clips, similar to advanced chat-based search functionalities. Multiple deep learning models, including DNN,RNN, LSTM, GRU and HRNN, were implemented and evaluated using performance metrics such as Accuracy, Precision, Recall, and F1-Score to determine their effectiveness in audio content classification and retrieval.</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experimental results demonstrate that deep learning architectures significantly improve audio search performance. Among the evaluated models, HRNN achieved the highest performance with 97% accuracy. Its hierarchical structure effectively captures both short-term acoustic patterns and long-term contextual dependencies in audio signals, making it highly suitable for complex audio retrieval tasks. RNN also delivered strong results, while LSTM showed comparatively lower performance in this specific audio-based application. GRU demonstrated strong performance with high accuracy and computational efficiency, effectively modeling sequential dependencies with a simpler gated architecture. In contrast, DNN achieved comparatively lower performance, as it lacks temporal memory mechanisms required for capturing sequential audio context.</a:t>
            </a:r>
          </a:p>
        </p:txBody>
      </p:sp>
      <p:sp>
        <p:nvSpPr>
          <p:cNvPr id="2" name="Slide Number Placeholder 1">
            <a:extLst>
              <a:ext uri="{FF2B5EF4-FFF2-40B4-BE49-F238E27FC236}">
                <a16:creationId xmlns:a16="http://schemas.microsoft.com/office/drawing/2014/main" id="{E52A669D-1049-9741-62B9-FA4253C8E7E4}"/>
              </a:ext>
            </a:extLst>
          </p:cNvPr>
          <p:cNvSpPr>
            <a:spLocks noGrp="1"/>
          </p:cNvSpPr>
          <p:nvPr>
            <p:ph type="sldNum" sz="quarter" idx="7"/>
          </p:nvPr>
        </p:nvSpPr>
        <p:spPr/>
        <p:txBody>
          <a:bodyPr/>
          <a:lstStyle/>
          <a:p>
            <a:pPr marL="38100">
              <a:lnSpc>
                <a:spcPts val="1810"/>
              </a:lnSpc>
            </a:pPr>
            <a:fld id="{81D60167-4931-47E6-BA6A-407CBD079E47}" type="slidenum">
              <a:rPr lang="en-IN" spc="-50" smtClean="0"/>
              <a:t>18</a:t>
            </a:fld>
            <a:endParaRPr lang="en-IN" spc="-50" dirty="0"/>
          </a:p>
        </p:txBody>
      </p:sp>
    </p:spTree>
    <p:extLst>
      <p:ext uri="{BB962C8B-B14F-4D97-AF65-F5344CB8AC3E}">
        <p14:creationId xmlns:p14="http://schemas.microsoft.com/office/powerpoint/2010/main" val="2920764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18E94-1DBD-2ACF-8A79-BBB48D65AC7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1764C43-738E-A41B-E889-9656CE7AD564}"/>
              </a:ext>
            </a:extLst>
          </p:cNvPr>
          <p:cNvSpPr txBox="1">
            <a:spLocks noGrp="1"/>
          </p:cNvSpPr>
          <p:nvPr>
            <p:ph type="title"/>
          </p:nvPr>
        </p:nvSpPr>
        <p:spPr>
          <a:xfrm>
            <a:off x="631367" y="278880"/>
            <a:ext cx="11212830" cy="787920"/>
          </a:xfrm>
          <a:prstGeom prst="rect">
            <a:avLst/>
          </a:prstGeom>
          <a:solidFill>
            <a:srgbClr val="689C9A"/>
          </a:solidFill>
          <a:ln w="15872">
            <a:solidFill>
              <a:srgbClr val="454330"/>
            </a:solidFill>
          </a:ln>
        </p:spPr>
        <p:txBody>
          <a:bodyPr vert="horz" wrap="square" lIns="0" tIns="190500" rIns="0" bIns="208800" rtlCol="0">
            <a:spAutoFit/>
          </a:bodyPr>
          <a:lstStyle/>
          <a:p>
            <a:pPr algn="ctr">
              <a:lnSpc>
                <a:spcPct val="100000"/>
              </a:lnSpc>
              <a:spcBef>
                <a:spcPts val="1500"/>
              </a:spcBef>
            </a:pPr>
            <a:r>
              <a:rPr lang="en-US" spc="-10" dirty="0"/>
              <a:t>OUTPUT</a:t>
            </a:r>
            <a:endParaRPr spc="-10" dirty="0"/>
          </a:p>
        </p:txBody>
      </p:sp>
      <p:pic>
        <p:nvPicPr>
          <p:cNvPr id="2" name="Picture 1">
            <a:extLst>
              <a:ext uri="{FF2B5EF4-FFF2-40B4-BE49-F238E27FC236}">
                <a16:creationId xmlns:a16="http://schemas.microsoft.com/office/drawing/2014/main" id="{62DEFE31-2786-476D-2C2E-72F6FD38FA85}"/>
              </a:ext>
            </a:extLst>
          </p:cNvPr>
          <p:cNvPicPr>
            <a:picLocks noChangeAspect="1"/>
          </p:cNvPicPr>
          <p:nvPr/>
        </p:nvPicPr>
        <p:blipFill>
          <a:blip r:embed="rId2"/>
          <a:stretch>
            <a:fillRect/>
          </a:stretch>
        </p:blipFill>
        <p:spPr>
          <a:xfrm>
            <a:off x="631367" y="1066800"/>
            <a:ext cx="11114864" cy="2590800"/>
          </a:xfrm>
          <a:prstGeom prst="rect">
            <a:avLst/>
          </a:prstGeom>
        </p:spPr>
      </p:pic>
      <p:sp>
        <p:nvSpPr>
          <p:cNvPr id="6" name="Slide Number Placeholder 5">
            <a:extLst>
              <a:ext uri="{FF2B5EF4-FFF2-40B4-BE49-F238E27FC236}">
                <a16:creationId xmlns:a16="http://schemas.microsoft.com/office/drawing/2014/main" id="{B484D162-1593-15E4-353E-8A0B7C41D27D}"/>
              </a:ext>
            </a:extLst>
          </p:cNvPr>
          <p:cNvSpPr>
            <a:spLocks noGrp="1"/>
          </p:cNvSpPr>
          <p:nvPr>
            <p:ph type="sldNum" sz="quarter" idx="7"/>
          </p:nvPr>
        </p:nvSpPr>
        <p:spPr/>
        <p:txBody>
          <a:bodyPr/>
          <a:lstStyle/>
          <a:p>
            <a:pPr marL="38100">
              <a:lnSpc>
                <a:spcPts val="1810"/>
              </a:lnSpc>
            </a:pPr>
            <a:fld id="{81D60167-4931-47E6-BA6A-407CBD079E47}" type="slidenum">
              <a:rPr lang="en-IN" spc="-50" smtClean="0"/>
              <a:t>19</a:t>
            </a:fld>
            <a:endParaRPr lang="en-IN" spc="-50" dirty="0"/>
          </a:p>
        </p:txBody>
      </p:sp>
    </p:spTree>
    <p:extLst>
      <p:ext uri="{BB962C8B-B14F-4D97-AF65-F5344CB8AC3E}">
        <p14:creationId xmlns:p14="http://schemas.microsoft.com/office/powerpoint/2010/main" val="143814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8170"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REFERENCES</a:t>
            </a:r>
          </a:p>
        </p:txBody>
      </p:sp>
      <p:sp>
        <p:nvSpPr>
          <p:cNvPr id="3" name="object 3"/>
          <p:cNvSpPr txBox="1"/>
          <p:nvPr/>
        </p:nvSpPr>
        <p:spPr>
          <a:xfrm>
            <a:off x="548005" y="1242183"/>
            <a:ext cx="10958195" cy="4373633"/>
          </a:xfrm>
          <a:prstGeom prst="rect">
            <a:avLst/>
          </a:prstGeom>
        </p:spPr>
        <p:txBody>
          <a:bodyPr vert="horz" wrap="square" lIns="0" tIns="13335" rIns="0" bIns="0" rtlCol="0">
            <a:spAutoFit/>
          </a:bodyPr>
          <a:lstStyle/>
          <a:p>
            <a:pPr marL="527050" marR="5715" indent="-514350" algn="just">
              <a:lnSpc>
                <a:spcPct val="100000"/>
              </a:lnSpc>
              <a:spcBef>
                <a:spcPts val="105"/>
              </a:spcBef>
              <a:buClr>
                <a:schemeClr val="tx1"/>
              </a:buClr>
              <a:buFont typeface="+mj-lt"/>
              <a:buAutoNum type="arabicPeriod"/>
              <a:tabLst>
                <a:tab pos="469900" algn="l"/>
              </a:tabLst>
            </a:pPr>
            <a:r>
              <a:rPr lang="en-IN" sz="2000" dirty="0">
                <a:solidFill>
                  <a:schemeClr val="tx1"/>
                </a:solidFill>
                <a:latin typeface="Times New Roman" panose="02020603050405020304" pitchFamily="18" charset="0"/>
                <a:cs typeface="Times New Roman" panose="02020603050405020304" pitchFamily="18" charset="0"/>
              </a:rPr>
              <a:t>Harsh Ahlawat, Naveen Aggarwal, Deepti </a:t>
            </a:r>
            <a:r>
              <a:rPr lang="en-IN" sz="2000" dirty="0" err="1">
                <a:solidFill>
                  <a:schemeClr val="tx1"/>
                </a:solidFill>
                <a:latin typeface="Times New Roman" panose="02020603050405020304" pitchFamily="18" charset="0"/>
                <a:cs typeface="Times New Roman" panose="02020603050405020304" pitchFamily="18" charset="0"/>
              </a:rPr>
              <a:t>Gupta,Automatic</a:t>
            </a:r>
            <a:r>
              <a:rPr lang="en-IN" sz="2000" dirty="0">
                <a:solidFill>
                  <a:schemeClr val="tx1"/>
                </a:solidFill>
                <a:latin typeface="Times New Roman" panose="02020603050405020304" pitchFamily="18" charset="0"/>
                <a:cs typeface="Times New Roman" panose="02020603050405020304" pitchFamily="18" charset="0"/>
              </a:rPr>
              <a:t> Speech Recognition: A survey of deep learning techniques and </a:t>
            </a:r>
            <a:r>
              <a:rPr lang="en-IN" sz="2000" dirty="0" err="1">
                <a:solidFill>
                  <a:schemeClr val="tx1"/>
                </a:solidFill>
                <a:latin typeface="Times New Roman" panose="02020603050405020304" pitchFamily="18" charset="0"/>
                <a:cs typeface="Times New Roman" panose="02020603050405020304" pitchFamily="18" charset="0"/>
              </a:rPr>
              <a:t>approaches,International</a:t>
            </a:r>
            <a:r>
              <a:rPr lang="en-IN" sz="2000" dirty="0">
                <a:solidFill>
                  <a:schemeClr val="tx1"/>
                </a:solidFill>
                <a:latin typeface="Times New Roman" panose="02020603050405020304" pitchFamily="18" charset="0"/>
                <a:cs typeface="Times New Roman" panose="02020603050405020304" pitchFamily="18" charset="0"/>
              </a:rPr>
              <a:t> Journal of Cognitive Computing in Engineering,Volume6,2025,Pages,201237,ISSN26663074,https://doi.org/10.1016/j.ijcce.2024.12.007.</a:t>
            </a:r>
          </a:p>
          <a:p>
            <a:pPr marL="527050" marR="5715" indent="-514350" algn="just">
              <a:lnSpc>
                <a:spcPct val="100000"/>
              </a:lnSpc>
              <a:spcBef>
                <a:spcPts val="105"/>
              </a:spcBef>
              <a:buClr>
                <a:schemeClr val="tx1"/>
              </a:buClr>
              <a:buFont typeface="+mj-lt"/>
              <a:buAutoNum type="arabicPeriod"/>
              <a:tabLst>
                <a:tab pos="469900" algn="l"/>
              </a:tabLst>
            </a:pPr>
            <a:r>
              <a:rPr lang="en-IN" sz="2000" dirty="0">
                <a:solidFill>
                  <a:schemeClr val="tx1"/>
                </a:solidFill>
                <a:latin typeface="Times New Roman" panose="02020603050405020304" pitchFamily="18" charset="0"/>
                <a:cs typeface="Times New Roman" panose="02020603050405020304" pitchFamily="18" charset="0"/>
              </a:rPr>
              <a:t>V. M. Reddy, T. Vaishnavi and K. P. Kumar, "Speech-to-Text and Text-to-Speech Recognition Using Deep Learning," 2023 2nd International Conference on Edge Computing and Applications (ICECAA), Namakkal, India, 2023, pp. 657-666, </a:t>
            </a:r>
            <a:r>
              <a:rPr lang="en-IN" sz="2000" dirty="0" err="1">
                <a:solidFill>
                  <a:schemeClr val="tx1"/>
                </a:solidFill>
                <a:latin typeface="Times New Roman" panose="02020603050405020304" pitchFamily="18" charset="0"/>
                <a:cs typeface="Times New Roman" panose="02020603050405020304" pitchFamily="18" charset="0"/>
              </a:rPr>
              <a:t>doi</a:t>
            </a:r>
            <a:r>
              <a:rPr lang="en-IN" sz="2000" dirty="0">
                <a:solidFill>
                  <a:schemeClr val="tx1"/>
                </a:solidFill>
                <a:latin typeface="Times New Roman" panose="02020603050405020304" pitchFamily="18" charset="0"/>
                <a:cs typeface="Times New Roman" panose="02020603050405020304" pitchFamily="18" charset="0"/>
              </a:rPr>
              <a:t>: 10.1109/ICECAA58104.2023.10212222.</a:t>
            </a:r>
          </a:p>
          <a:p>
            <a:pPr marL="527050" marR="5715" indent="-514350" algn="just">
              <a:lnSpc>
                <a:spcPct val="100000"/>
              </a:lnSpc>
              <a:spcBef>
                <a:spcPts val="105"/>
              </a:spcBef>
              <a:buClr>
                <a:schemeClr val="tx1"/>
              </a:buClr>
              <a:buFont typeface="+mj-lt"/>
              <a:buAutoNum type="arabicPeriod"/>
              <a:tabLst>
                <a:tab pos="469900" algn="l"/>
              </a:tabLst>
            </a:pPr>
            <a:r>
              <a:rPr lang="en-US" sz="2000" dirty="0">
                <a:solidFill>
                  <a:schemeClr val="tx1"/>
                </a:solidFill>
                <a:latin typeface="Times New Roman" panose="02020603050405020304" pitchFamily="18" charset="0"/>
                <a:cs typeface="Times New Roman" panose="02020603050405020304" pitchFamily="18" charset="0"/>
              </a:rPr>
              <a:t>M. Abdar et al., "A Review of Deep Learning for Video Captioning," in IEEE Transactions on Pattern Analysis and Machine Intelligence, </a:t>
            </a:r>
            <a:r>
              <a:rPr lang="en-US" sz="2000" dirty="0" err="1">
                <a:solidFill>
                  <a:schemeClr val="tx1"/>
                </a:solidFill>
                <a:latin typeface="Times New Roman" panose="02020603050405020304" pitchFamily="18" charset="0"/>
                <a:cs typeface="Times New Roman" panose="02020603050405020304" pitchFamily="18" charset="0"/>
              </a:rPr>
              <a:t>doi</a:t>
            </a:r>
            <a:r>
              <a:rPr lang="en-US" sz="2000" dirty="0">
                <a:solidFill>
                  <a:schemeClr val="tx1"/>
                </a:solidFill>
                <a:latin typeface="Times New Roman" panose="02020603050405020304" pitchFamily="18" charset="0"/>
                <a:cs typeface="Times New Roman" panose="02020603050405020304" pitchFamily="18" charset="0"/>
              </a:rPr>
              <a:t>: 10.1109/TPAMI.2024.3522295.</a:t>
            </a:r>
          </a:p>
          <a:p>
            <a:pPr marL="527050" marR="5715" indent="-514350" algn="just">
              <a:lnSpc>
                <a:spcPct val="100000"/>
              </a:lnSpc>
              <a:spcBef>
                <a:spcPts val="105"/>
              </a:spcBef>
              <a:buClr>
                <a:schemeClr val="tx1"/>
              </a:buClr>
              <a:buFont typeface="+mj-lt"/>
              <a:buAutoNum type="arabicPeriod"/>
              <a:tabLst>
                <a:tab pos="469900" algn="l"/>
              </a:tabLst>
            </a:pPr>
            <a:r>
              <a:rPr lang="en-US" sz="2000" dirty="0">
                <a:solidFill>
                  <a:schemeClr val="tx1"/>
                </a:solidFill>
                <a:latin typeface="Times New Roman" panose="02020603050405020304" pitchFamily="18" charset="0"/>
                <a:cs typeface="Times New Roman" panose="02020603050405020304" pitchFamily="18" charset="0"/>
              </a:rPr>
              <a:t>Zhu, </a:t>
            </a:r>
            <a:r>
              <a:rPr lang="en-US" sz="2000" dirty="0" err="1">
                <a:solidFill>
                  <a:schemeClr val="tx1"/>
                </a:solidFill>
                <a:latin typeface="Times New Roman" panose="02020603050405020304" pitchFamily="18" charset="0"/>
                <a:cs typeface="Times New Roman" panose="02020603050405020304" pitchFamily="18" charset="0"/>
              </a:rPr>
              <a:t>Cunjuan</a:t>
            </a:r>
            <a:r>
              <a:rPr lang="en-US" sz="2000" dirty="0">
                <a:solidFill>
                  <a:schemeClr val="tx1"/>
                </a:solidFill>
                <a:latin typeface="Times New Roman" panose="02020603050405020304" pitchFamily="18" charset="0"/>
                <a:cs typeface="Times New Roman" panose="02020603050405020304" pitchFamily="18" charset="0"/>
              </a:rPr>
              <a:t>, Qi Jia, Wei Chen, </a:t>
            </a:r>
            <a:r>
              <a:rPr lang="en-US" sz="2000" dirty="0" err="1">
                <a:solidFill>
                  <a:schemeClr val="tx1"/>
                </a:solidFill>
                <a:latin typeface="Times New Roman" panose="02020603050405020304" pitchFamily="18" charset="0"/>
                <a:cs typeface="Times New Roman" panose="02020603050405020304" pitchFamily="18" charset="0"/>
              </a:rPr>
              <a:t>Yanming</a:t>
            </a:r>
            <a:r>
              <a:rPr lang="en-US" sz="2000" dirty="0">
                <a:solidFill>
                  <a:schemeClr val="tx1"/>
                </a:solidFill>
                <a:latin typeface="Times New Roman" panose="02020603050405020304" pitchFamily="18" charset="0"/>
                <a:cs typeface="Times New Roman" panose="02020603050405020304" pitchFamily="18" charset="0"/>
              </a:rPr>
              <a:t> Guo, and Yu Liu. "Deep learning for video-text retrieval: a review." International Journal of Multimedia Information Retrieval 12, no. 1 (2023): 3.</a:t>
            </a:r>
          </a:p>
          <a:p>
            <a:pPr marL="527050" marR="5715" indent="-514350" algn="just">
              <a:lnSpc>
                <a:spcPct val="100000"/>
              </a:lnSpc>
              <a:spcBef>
                <a:spcPts val="105"/>
              </a:spcBef>
              <a:buClr>
                <a:schemeClr val="tx1"/>
              </a:buClr>
              <a:buFont typeface="+mj-lt"/>
              <a:buAutoNum type="arabicPeriod"/>
              <a:tabLst>
                <a:tab pos="469900" algn="l"/>
              </a:tabLst>
            </a:pPr>
            <a:r>
              <a:rPr lang="en-IN" sz="2000" dirty="0">
                <a:solidFill>
                  <a:schemeClr val="tx1"/>
                </a:solidFill>
                <a:latin typeface="Times New Roman" panose="02020603050405020304" pitchFamily="18" charset="0"/>
                <a:cs typeface="Times New Roman" panose="02020603050405020304" pitchFamily="18" charset="0"/>
              </a:rPr>
              <a:t>Liao, Lizi, Le Hong Long, Zheng Zhang, </a:t>
            </a:r>
            <a:r>
              <a:rPr lang="en-IN" sz="2000" dirty="0" err="1">
                <a:solidFill>
                  <a:schemeClr val="tx1"/>
                </a:solidFill>
                <a:latin typeface="Times New Roman" panose="02020603050405020304" pitchFamily="18" charset="0"/>
                <a:cs typeface="Times New Roman" panose="02020603050405020304" pitchFamily="18" charset="0"/>
              </a:rPr>
              <a:t>Minlie</a:t>
            </a:r>
            <a:r>
              <a:rPr lang="en-IN" sz="2000" dirty="0">
                <a:solidFill>
                  <a:schemeClr val="tx1"/>
                </a:solidFill>
                <a:latin typeface="Times New Roman" panose="02020603050405020304" pitchFamily="18" charset="0"/>
                <a:cs typeface="Times New Roman" panose="02020603050405020304" pitchFamily="18" charset="0"/>
              </a:rPr>
              <a:t> Huang, and Tat-Seng Chua. "</a:t>
            </a:r>
            <a:r>
              <a:rPr lang="en-IN" sz="2000" dirty="0" err="1">
                <a:solidFill>
                  <a:schemeClr val="tx1"/>
                </a:solidFill>
                <a:latin typeface="Times New Roman" panose="02020603050405020304" pitchFamily="18" charset="0"/>
                <a:cs typeface="Times New Roman" panose="02020603050405020304" pitchFamily="18" charset="0"/>
              </a:rPr>
              <a:t>MMConv</a:t>
            </a:r>
            <a:r>
              <a:rPr lang="en-IN" sz="2000" dirty="0">
                <a:solidFill>
                  <a:schemeClr val="tx1"/>
                </a:solidFill>
                <a:latin typeface="Times New Roman" panose="02020603050405020304" pitchFamily="18" charset="0"/>
                <a:cs typeface="Times New Roman" panose="02020603050405020304" pitchFamily="18" charset="0"/>
              </a:rPr>
              <a:t>: an environment for multimodal conversational search across multiple domains." In Proceedings of the 44th international ACM SIGIR conference on research and development in information retrieval, pp. 675-684. 2021.</a:t>
            </a:r>
          </a:p>
        </p:txBody>
      </p:sp>
      <p:sp>
        <p:nvSpPr>
          <p:cNvPr id="4" name="Slide Number Placeholder 3">
            <a:extLst>
              <a:ext uri="{FF2B5EF4-FFF2-40B4-BE49-F238E27FC236}">
                <a16:creationId xmlns:a16="http://schemas.microsoft.com/office/drawing/2014/main" id="{C4F1FD55-F472-CF44-D2EC-804EE6E2BF7C}"/>
              </a:ext>
            </a:extLst>
          </p:cNvPr>
          <p:cNvSpPr>
            <a:spLocks noGrp="1"/>
          </p:cNvSpPr>
          <p:nvPr>
            <p:ph type="sldNum" sz="quarter" idx="7"/>
          </p:nvPr>
        </p:nvSpPr>
        <p:spPr/>
        <p:txBody>
          <a:bodyPr/>
          <a:lstStyle/>
          <a:p>
            <a:pPr marL="38100">
              <a:lnSpc>
                <a:spcPts val="1810"/>
              </a:lnSpc>
            </a:pPr>
            <a:fld id="{81D60167-4931-47E6-BA6A-407CBD079E47}" type="slidenum">
              <a:rPr lang="en-IN" spc="-50" smtClean="0"/>
              <a:t>20</a:t>
            </a:fld>
            <a:endParaRPr lang="en-IN" spc="-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8170"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REFERENCES</a:t>
            </a:r>
          </a:p>
        </p:txBody>
      </p:sp>
      <p:sp>
        <p:nvSpPr>
          <p:cNvPr id="3" name="object 3"/>
          <p:cNvSpPr txBox="1"/>
          <p:nvPr/>
        </p:nvSpPr>
        <p:spPr>
          <a:xfrm>
            <a:off x="598170" y="1237286"/>
            <a:ext cx="11212830" cy="4630114"/>
          </a:xfrm>
          <a:prstGeom prst="rect">
            <a:avLst/>
          </a:prstGeom>
        </p:spPr>
        <p:txBody>
          <a:bodyPr vert="horz" wrap="square" lIns="0" tIns="13335" rIns="0" bIns="0" rtlCol="0">
            <a:spAutoFit/>
          </a:bodyPr>
          <a:lstStyle/>
          <a:p>
            <a:pPr marL="469265" marR="5715" indent="-457200" algn="just">
              <a:lnSpc>
                <a:spcPct val="100000"/>
              </a:lnSpc>
              <a:spcBef>
                <a:spcPts val="105"/>
              </a:spcBef>
              <a:buClr>
                <a:schemeClr val="tx1"/>
              </a:buClr>
              <a:buFont typeface="+mj-lt"/>
              <a:buAutoNum type="arabicPeriod" startAt="6"/>
              <a:tabLst>
                <a:tab pos="469265" algn="l"/>
              </a:tabLst>
            </a:pPr>
            <a:r>
              <a:rPr lang="en-IN" sz="2000" dirty="0">
                <a:latin typeface="Times New Roman"/>
                <a:cs typeface="Times New Roman"/>
              </a:rPr>
              <a:t>Islam, Saiful, </a:t>
            </a:r>
            <a:r>
              <a:rPr lang="en-IN" sz="2000" dirty="0" err="1">
                <a:latin typeface="Times New Roman"/>
                <a:cs typeface="Times New Roman"/>
              </a:rPr>
              <a:t>Aurpan</a:t>
            </a:r>
            <a:r>
              <a:rPr lang="en-IN" sz="2000" dirty="0">
                <a:latin typeface="Times New Roman"/>
                <a:cs typeface="Times New Roman"/>
              </a:rPr>
              <a:t> Dash, Ashek Seum, Amir Hossain Raj, Tonmoy Hossain, and Faisal Muhammad Shah. "Exploring video captioning techniques: A comprehensive survey on deep learning methods." SN Computer Science 2, no. 2 (2021): 1-28.</a:t>
            </a:r>
          </a:p>
          <a:p>
            <a:pPr marL="469265" marR="6350" indent="-457200" algn="just">
              <a:lnSpc>
                <a:spcPct val="100000"/>
              </a:lnSpc>
              <a:buClr>
                <a:schemeClr val="tx1"/>
              </a:buClr>
              <a:buFont typeface="+mj-lt"/>
              <a:buAutoNum type="arabicPeriod" startAt="6"/>
              <a:tabLst>
                <a:tab pos="469265" algn="l"/>
              </a:tabLst>
            </a:pPr>
            <a:r>
              <a:rPr lang="en-IN" sz="2000" dirty="0" err="1">
                <a:solidFill>
                  <a:srgbClr val="2D2B20"/>
                </a:solidFill>
                <a:latin typeface="Times New Roman"/>
                <a:cs typeface="Times New Roman"/>
              </a:rPr>
              <a:t>Samleti</a:t>
            </a:r>
            <a:r>
              <a:rPr lang="en-IN" sz="2000" dirty="0">
                <a:solidFill>
                  <a:srgbClr val="2D2B20"/>
                </a:solidFill>
                <a:latin typeface="Times New Roman"/>
                <a:cs typeface="Times New Roman"/>
              </a:rPr>
              <a:t>, Sandeep, Ashish Mishra, Alok </a:t>
            </a:r>
            <a:r>
              <a:rPr lang="en-IN" sz="2000" dirty="0" err="1">
                <a:solidFill>
                  <a:srgbClr val="2D2B20"/>
                </a:solidFill>
                <a:latin typeface="Times New Roman"/>
                <a:cs typeface="Times New Roman"/>
              </a:rPr>
              <a:t>Jhajhria</a:t>
            </a:r>
            <a:r>
              <a:rPr lang="en-IN" sz="2000" dirty="0">
                <a:solidFill>
                  <a:srgbClr val="2D2B20"/>
                </a:solidFill>
                <a:latin typeface="Times New Roman"/>
                <a:cs typeface="Times New Roman"/>
              </a:rPr>
              <a:t>, Shivam Kumar Rai, and Gaurav Malik. "Real Time Video Captioning Using Deep Learning." INTERNATIONAL JOURNAL OF ENGINEERING RESEARCH and TECHNOLOGY (IJERT) 10, no. 12 (2021).</a:t>
            </a:r>
          </a:p>
          <a:p>
            <a:pPr marL="469265" marR="6350" indent="-457200" algn="just">
              <a:lnSpc>
                <a:spcPct val="100000"/>
              </a:lnSpc>
              <a:buClr>
                <a:schemeClr val="tx1"/>
              </a:buClr>
              <a:buFont typeface="+mj-lt"/>
              <a:buAutoNum type="arabicPeriod" startAt="6"/>
              <a:tabLst>
                <a:tab pos="469265" algn="l"/>
              </a:tabLst>
            </a:pPr>
            <a:r>
              <a:rPr lang="en-IN" sz="2000" dirty="0">
                <a:solidFill>
                  <a:srgbClr val="2D2B20"/>
                </a:solidFill>
                <a:latin typeface="Times New Roman"/>
                <a:cs typeface="Times New Roman"/>
              </a:rPr>
              <a:t>Singh </a:t>
            </a:r>
            <a:r>
              <a:rPr lang="en-IN" sz="2000" dirty="0" err="1">
                <a:solidFill>
                  <a:srgbClr val="2D2B20"/>
                </a:solidFill>
                <a:latin typeface="Times New Roman"/>
                <a:cs typeface="Times New Roman"/>
              </a:rPr>
              <a:t>Sengar</a:t>
            </a:r>
            <a:r>
              <a:rPr lang="en-IN" sz="2000" dirty="0">
                <a:solidFill>
                  <a:srgbClr val="2D2B20"/>
                </a:solidFill>
                <a:latin typeface="Times New Roman"/>
                <a:cs typeface="Times New Roman"/>
              </a:rPr>
              <a:t>, Abhiraj, Kritika Pandey, and Pragya Tewari. "Image to Caption Generator Using Machine Learning and Deep Learning Models." Available at SSRN 5190843 (2025).</a:t>
            </a:r>
          </a:p>
          <a:p>
            <a:pPr marL="469265" marR="6350" indent="-457200" algn="just">
              <a:lnSpc>
                <a:spcPct val="100000"/>
              </a:lnSpc>
              <a:buClr>
                <a:schemeClr val="tx1"/>
              </a:buClr>
              <a:buFont typeface="+mj-lt"/>
              <a:buAutoNum type="arabicPeriod" startAt="6"/>
              <a:tabLst>
                <a:tab pos="469265" algn="l"/>
              </a:tabLst>
            </a:pPr>
            <a:r>
              <a:rPr lang="en-IN" sz="2000" dirty="0">
                <a:solidFill>
                  <a:srgbClr val="2D2B20"/>
                </a:solidFill>
                <a:latin typeface="Times New Roman"/>
                <a:cs typeface="Times New Roman"/>
              </a:rPr>
              <a:t>Hase, Dhanashri, Junaid Khan, Sahil Khot, Rehaan Qureshi, and F. A. Shaikh. "WhatsApp Chat Analysis Based on NLP Using Machine Learning." International Journal of Innovative Research in Engineering (2023).</a:t>
            </a:r>
          </a:p>
          <a:p>
            <a:pPr marL="469265" marR="6350" indent="-457200" algn="just">
              <a:lnSpc>
                <a:spcPct val="100000"/>
              </a:lnSpc>
              <a:buClr>
                <a:schemeClr val="tx1"/>
              </a:buClr>
              <a:buFont typeface="+mj-lt"/>
              <a:buAutoNum type="arabicPeriod" startAt="6"/>
              <a:tabLst>
                <a:tab pos="469265" algn="l"/>
              </a:tabLst>
            </a:pPr>
            <a:r>
              <a:rPr lang="en-IN" sz="2000" dirty="0">
                <a:solidFill>
                  <a:srgbClr val="2D2B20"/>
                </a:solidFill>
                <a:latin typeface="Times New Roman"/>
                <a:cs typeface="Times New Roman"/>
              </a:rPr>
              <a:t>Pellet-</a:t>
            </a:r>
            <a:r>
              <a:rPr lang="en-IN" sz="2000" dirty="0" err="1">
                <a:solidFill>
                  <a:srgbClr val="2D2B20"/>
                </a:solidFill>
                <a:latin typeface="Times New Roman"/>
                <a:cs typeface="Times New Roman"/>
              </a:rPr>
              <a:t>Rostaing</a:t>
            </a:r>
            <a:r>
              <a:rPr lang="en-IN" sz="2000" dirty="0">
                <a:solidFill>
                  <a:srgbClr val="2D2B20"/>
                </a:solidFill>
                <a:latin typeface="Times New Roman"/>
                <a:cs typeface="Times New Roman"/>
              </a:rPr>
              <a:t>, Arthur, Roxane Bertrand, Auriane Boudin, Stéphane </a:t>
            </a:r>
            <a:r>
              <a:rPr lang="en-IN" sz="2000" dirty="0" err="1">
                <a:solidFill>
                  <a:srgbClr val="2D2B20"/>
                </a:solidFill>
                <a:latin typeface="Times New Roman"/>
                <a:cs typeface="Times New Roman"/>
              </a:rPr>
              <a:t>Rauzy</a:t>
            </a:r>
            <a:r>
              <a:rPr lang="en-IN" sz="2000" dirty="0">
                <a:solidFill>
                  <a:srgbClr val="2D2B20"/>
                </a:solidFill>
                <a:latin typeface="Times New Roman"/>
                <a:cs typeface="Times New Roman"/>
              </a:rPr>
              <a:t>, and Philippe Blache. "A multimodal approach for </a:t>
            </a:r>
            <a:r>
              <a:rPr lang="en-IN" sz="2000" dirty="0" err="1">
                <a:solidFill>
                  <a:srgbClr val="2D2B20"/>
                </a:solidFill>
                <a:latin typeface="Times New Roman"/>
                <a:cs typeface="Times New Roman"/>
              </a:rPr>
              <a:t>modeling</a:t>
            </a:r>
            <a:r>
              <a:rPr lang="en-IN" sz="2000" dirty="0">
                <a:solidFill>
                  <a:srgbClr val="2D2B20"/>
                </a:solidFill>
                <a:latin typeface="Times New Roman"/>
                <a:cs typeface="Times New Roman"/>
              </a:rPr>
              <a:t> engagement in conversation." Frontiers in Computer Science 5 (2023): 1062342.</a:t>
            </a:r>
          </a:p>
          <a:p>
            <a:pPr marL="469265" marR="6350" indent="-457200" algn="just">
              <a:lnSpc>
                <a:spcPct val="100000"/>
              </a:lnSpc>
              <a:buClr>
                <a:schemeClr val="tx1"/>
              </a:buClr>
              <a:buFont typeface="+mj-lt"/>
              <a:buAutoNum type="arabicPeriod" startAt="6"/>
              <a:tabLst>
                <a:tab pos="469265" algn="l"/>
              </a:tabLst>
            </a:pPr>
            <a:endParaRPr lang="en-IN" sz="2000" dirty="0">
              <a:latin typeface="Times New Roman"/>
              <a:cs typeface="Times New Roman"/>
            </a:endParaRPr>
          </a:p>
        </p:txBody>
      </p:sp>
      <p:sp>
        <p:nvSpPr>
          <p:cNvPr id="4" name="Slide Number Placeholder 3">
            <a:extLst>
              <a:ext uri="{FF2B5EF4-FFF2-40B4-BE49-F238E27FC236}">
                <a16:creationId xmlns:a16="http://schemas.microsoft.com/office/drawing/2014/main" id="{3E56B0B0-F717-8774-001E-C263E026D808}"/>
              </a:ext>
            </a:extLst>
          </p:cNvPr>
          <p:cNvSpPr>
            <a:spLocks noGrp="1"/>
          </p:cNvSpPr>
          <p:nvPr>
            <p:ph type="sldNum" sz="quarter" idx="7"/>
          </p:nvPr>
        </p:nvSpPr>
        <p:spPr/>
        <p:txBody>
          <a:bodyPr/>
          <a:lstStyle/>
          <a:p>
            <a:pPr marL="38100">
              <a:lnSpc>
                <a:spcPts val="1810"/>
              </a:lnSpc>
            </a:pPr>
            <a:fld id="{81D60167-4931-47E6-BA6A-407CBD079E47}" type="slidenum">
              <a:rPr lang="en-IN" spc="-50" smtClean="0"/>
              <a:t>21</a:t>
            </a:fld>
            <a:endParaRPr lang="en-IN" spc="-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00006D-12AF-BB4C-7E88-C5D2B4F2F77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A35E621-C0D0-359A-593E-1B47C397799E}"/>
              </a:ext>
            </a:extLst>
          </p:cNvPr>
          <p:cNvSpPr txBox="1">
            <a:spLocks noGrp="1"/>
          </p:cNvSpPr>
          <p:nvPr>
            <p:ph type="title"/>
          </p:nvPr>
        </p:nvSpPr>
        <p:spPr>
          <a:xfrm>
            <a:off x="631367" y="282575"/>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REFERENCES</a:t>
            </a:r>
          </a:p>
        </p:txBody>
      </p:sp>
      <p:sp>
        <p:nvSpPr>
          <p:cNvPr id="3" name="object 3">
            <a:extLst>
              <a:ext uri="{FF2B5EF4-FFF2-40B4-BE49-F238E27FC236}">
                <a16:creationId xmlns:a16="http://schemas.microsoft.com/office/drawing/2014/main" id="{D11136CE-88F1-FA64-AB0B-67465CD9F498}"/>
              </a:ext>
            </a:extLst>
          </p:cNvPr>
          <p:cNvSpPr txBox="1"/>
          <p:nvPr/>
        </p:nvSpPr>
        <p:spPr>
          <a:xfrm>
            <a:off x="609600" y="1219200"/>
            <a:ext cx="10947400" cy="6284413"/>
          </a:xfrm>
          <a:prstGeom prst="rect">
            <a:avLst/>
          </a:prstGeom>
        </p:spPr>
        <p:txBody>
          <a:bodyPr vert="horz" wrap="square" lIns="0" tIns="13335" rIns="0" bIns="0" rtlCol="0">
            <a:spAutoFit/>
          </a:bodyPr>
          <a:lstStyle/>
          <a:p>
            <a:pPr marL="469265" marR="5715" indent="-457200" algn="just">
              <a:lnSpc>
                <a:spcPct val="100000"/>
              </a:lnSpc>
              <a:spcBef>
                <a:spcPts val="105"/>
              </a:spcBef>
              <a:buClr>
                <a:schemeClr val="tx1"/>
              </a:buClr>
              <a:buFont typeface="+mj-lt"/>
              <a:buAutoNum type="arabicPeriod" startAt="11"/>
              <a:tabLst>
                <a:tab pos="469265" algn="l"/>
              </a:tabLst>
            </a:pPr>
            <a:r>
              <a:rPr lang="en-IN" sz="2000" dirty="0">
                <a:solidFill>
                  <a:srgbClr val="0070C0"/>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 M. Wani, T. S. Gunawan, S. A. A. Qadri, M. </a:t>
            </a:r>
            <a:r>
              <a:rPr lang="en-IN" sz="2000" dirty="0" err="1">
                <a:latin typeface="Times New Roman" panose="02020603050405020304" pitchFamily="18" charset="0"/>
                <a:cs typeface="Times New Roman" panose="02020603050405020304" pitchFamily="18" charset="0"/>
              </a:rPr>
              <a:t>Kartiwi</a:t>
            </a:r>
            <a:r>
              <a:rPr lang="en-IN" sz="2000" dirty="0">
                <a:latin typeface="Times New Roman" panose="02020603050405020304" pitchFamily="18" charset="0"/>
                <a:cs typeface="Times New Roman" panose="02020603050405020304" pitchFamily="18" charset="0"/>
              </a:rPr>
              <a:t> and E. </a:t>
            </a:r>
            <a:r>
              <a:rPr lang="en-IN" sz="2000" dirty="0" err="1">
                <a:latin typeface="Times New Roman" panose="02020603050405020304" pitchFamily="18" charset="0"/>
                <a:cs typeface="Times New Roman" panose="02020603050405020304" pitchFamily="18" charset="0"/>
              </a:rPr>
              <a:t>Ambikairajah</a:t>
            </a:r>
            <a:r>
              <a:rPr lang="en-IN" sz="2000" dirty="0">
                <a:latin typeface="Times New Roman" panose="02020603050405020304" pitchFamily="18" charset="0"/>
                <a:cs typeface="Times New Roman" panose="02020603050405020304" pitchFamily="18" charset="0"/>
              </a:rPr>
              <a:t>, "A Comprehensive Review of Speech Emotion Recognition Systems," in IEEE Access, vol. 9, pp. 47795-47814, 2021,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10.1109/ACCESS.2021.3068045.</a:t>
            </a:r>
            <a:endParaRPr lang="en-IN" sz="2000" dirty="0">
              <a:solidFill>
                <a:srgbClr val="2D2B20"/>
              </a:solidFill>
              <a:latin typeface="Times New Roman" panose="02020603050405020304" pitchFamily="18" charset="0"/>
              <a:cs typeface="Times New Roman" panose="02020603050405020304" pitchFamily="18" charset="0"/>
            </a:endParaRPr>
          </a:p>
          <a:p>
            <a:pPr marL="469265" marR="5715" indent="-457200" algn="just">
              <a:lnSpc>
                <a:spcPct val="100000"/>
              </a:lnSpc>
              <a:spcBef>
                <a:spcPts val="105"/>
              </a:spcBef>
              <a:buClr>
                <a:schemeClr val="tx1"/>
              </a:buClr>
              <a:buFont typeface="+mj-lt"/>
              <a:buAutoNum type="arabicPeriod" startAt="11"/>
              <a:tabLst>
                <a:tab pos="469265" algn="l"/>
              </a:tabLst>
            </a:pPr>
            <a:r>
              <a:rPr lang="en-IN" sz="2000" dirty="0">
                <a:solidFill>
                  <a:srgbClr val="2D2B20"/>
                </a:solidFill>
                <a:latin typeface="Times New Roman" panose="02020603050405020304" pitchFamily="18" charset="0"/>
                <a:cs typeface="Times New Roman" panose="02020603050405020304" pitchFamily="18" charset="0"/>
              </a:rPr>
              <a:t> </a:t>
            </a:r>
            <a:r>
              <a:rPr lang="en-IN" sz="2000" dirty="0" err="1">
                <a:solidFill>
                  <a:srgbClr val="2D2B20"/>
                </a:solidFill>
                <a:latin typeface="Times New Roman" panose="02020603050405020304" pitchFamily="18" charset="0"/>
                <a:cs typeface="Times New Roman" panose="02020603050405020304" pitchFamily="18" charset="0"/>
              </a:rPr>
              <a:t>Lieskovská</a:t>
            </a:r>
            <a:r>
              <a:rPr lang="en-IN" sz="2000" dirty="0">
                <a:solidFill>
                  <a:srgbClr val="2D2B20"/>
                </a:solidFill>
                <a:latin typeface="Times New Roman" panose="02020603050405020304" pitchFamily="18" charset="0"/>
                <a:cs typeface="Times New Roman" panose="02020603050405020304" pitchFamily="18" charset="0"/>
              </a:rPr>
              <a:t>, Eva, Maroš Jakubec, Roman Jarina, and Michal </a:t>
            </a:r>
            <a:r>
              <a:rPr lang="en-IN" sz="2000" dirty="0" err="1">
                <a:solidFill>
                  <a:srgbClr val="2D2B20"/>
                </a:solidFill>
                <a:latin typeface="Times New Roman" panose="02020603050405020304" pitchFamily="18" charset="0"/>
                <a:cs typeface="Times New Roman" panose="02020603050405020304" pitchFamily="18" charset="0"/>
              </a:rPr>
              <a:t>Chmulík</a:t>
            </a:r>
            <a:r>
              <a:rPr lang="en-IN" sz="2000" dirty="0">
                <a:solidFill>
                  <a:srgbClr val="2D2B20"/>
                </a:solidFill>
                <a:latin typeface="Times New Roman" panose="02020603050405020304" pitchFamily="18" charset="0"/>
                <a:cs typeface="Times New Roman" panose="02020603050405020304" pitchFamily="18" charset="0"/>
              </a:rPr>
              <a:t>. 2021. "A Review on Speech Emotion Recognition Using Deep Learning and Attention Mechanism" Electronics 10, no. 10: 1163. </a:t>
            </a:r>
            <a:r>
              <a:rPr lang="en-IN" sz="2000" dirty="0">
                <a:solidFill>
                  <a:srgbClr val="2D2B20"/>
                </a:solidFill>
                <a:latin typeface="Times New Roman" panose="02020603050405020304" pitchFamily="18" charset="0"/>
                <a:cs typeface="Times New Roman" panose="02020603050405020304" pitchFamily="18" charset="0"/>
                <a:hlinkClick r:id="rId2"/>
              </a:rPr>
              <a:t>https://doi.org/10.3390/electronics10101163</a:t>
            </a:r>
            <a:endParaRPr lang="en-IN" sz="2000" dirty="0">
              <a:solidFill>
                <a:srgbClr val="2D2B20"/>
              </a:solidFill>
              <a:latin typeface="Times New Roman" panose="02020603050405020304" pitchFamily="18" charset="0"/>
              <a:cs typeface="Times New Roman" panose="02020603050405020304" pitchFamily="18" charset="0"/>
            </a:endParaRPr>
          </a:p>
          <a:p>
            <a:pPr marL="469265" marR="5715" indent="-457200" algn="just">
              <a:spcBef>
                <a:spcPts val="105"/>
              </a:spcBef>
              <a:buClr>
                <a:schemeClr val="tx1"/>
              </a:buClr>
              <a:buFont typeface="+mj-lt"/>
              <a:buAutoNum type="arabicPeriod" startAt="11"/>
              <a:tabLst>
                <a:tab pos="469265" algn="l"/>
              </a:tabLst>
            </a:pPr>
            <a:r>
              <a:rPr lang="en-US" sz="2000" dirty="0">
                <a:solidFill>
                  <a:schemeClr val="tx1"/>
                </a:solidFill>
                <a:latin typeface="Times New Roman" panose="02020603050405020304" pitchFamily="18" charset="0"/>
                <a:cs typeface="Times New Roman" panose="02020603050405020304" pitchFamily="18" charset="0"/>
              </a:rPr>
              <a:t>Wang, </a:t>
            </a:r>
            <a:r>
              <a:rPr lang="en-US" sz="2000" dirty="0" err="1">
                <a:solidFill>
                  <a:schemeClr val="tx1"/>
                </a:solidFill>
                <a:latin typeface="Times New Roman" panose="02020603050405020304" pitchFamily="18" charset="0"/>
                <a:cs typeface="Times New Roman" panose="02020603050405020304" pitchFamily="18" charset="0"/>
              </a:rPr>
              <a:t>Yiyu</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Jungang</a:t>
            </a:r>
            <a:r>
              <a:rPr lang="en-US" sz="2000" dirty="0">
                <a:solidFill>
                  <a:schemeClr val="tx1"/>
                </a:solidFill>
                <a:latin typeface="Times New Roman" panose="02020603050405020304" pitchFamily="18" charset="0"/>
                <a:cs typeface="Times New Roman" panose="02020603050405020304" pitchFamily="18" charset="0"/>
              </a:rPr>
              <a:t> Xu, and Yingfei Sun. 2022. “End-to-End Transformer Based Model for Image Captioning.” Proceedings of the AAAI Conference on Artificial Intelligence 36 (3): 2585–94. </a:t>
            </a:r>
            <a:r>
              <a:rPr lang="en-US" sz="200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https://doi.org/10.1609/aaai.v36i3.20160</a:t>
            </a:r>
            <a:r>
              <a:rPr lang="en-US" sz="2000" dirty="0">
                <a:solidFill>
                  <a:schemeClr val="tx1"/>
                </a:solidFill>
                <a:latin typeface="Times New Roman" panose="02020603050405020304" pitchFamily="18" charset="0"/>
                <a:cs typeface="Times New Roman" panose="02020603050405020304" pitchFamily="18" charset="0"/>
              </a:rPr>
              <a:t>.</a:t>
            </a:r>
          </a:p>
          <a:p>
            <a:pPr marL="469265" marR="5715" indent="-457200" algn="just">
              <a:spcBef>
                <a:spcPts val="105"/>
              </a:spcBef>
              <a:buClr>
                <a:schemeClr val="tx1"/>
              </a:buClr>
              <a:buFont typeface="+mj-lt"/>
              <a:buAutoNum type="arabicPeriod" startAt="11"/>
              <a:tabLst>
                <a:tab pos="469265" algn="l"/>
              </a:tabLst>
            </a:pPr>
            <a:r>
              <a:rPr lang="en-IN" sz="2000" dirty="0">
                <a:solidFill>
                  <a:srgbClr val="2D2B20"/>
                </a:solidFill>
                <a:latin typeface="Times New Roman" panose="02020603050405020304" pitchFamily="18" charset="0"/>
                <a:cs typeface="Times New Roman" panose="02020603050405020304" pitchFamily="18" charset="0"/>
              </a:rPr>
              <a:t>Ju, Yeong-Joon, Ho-Joong Kim, and Seong-Whan Lee. "</a:t>
            </a:r>
            <a:r>
              <a:rPr lang="en-IN" sz="2000" dirty="0" err="1">
                <a:solidFill>
                  <a:srgbClr val="2D2B20"/>
                </a:solidFill>
                <a:latin typeface="Times New Roman" panose="02020603050405020304" pitchFamily="18" charset="0"/>
                <a:cs typeface="Times New Roman" panose="02020603050405020304" pitchFamily="18" charset="0"/>
              </a:rPr>
              <a:t>MIRe</a:t>
            </a:r>
            <a:r>
              <a:rPr lang="en-IN" sz="2000" dirty="0">
                <a:solidFill>
                  <a:srgbClr val="2D2B20"/>
                </a:solidFill>
                <a:latin typeface="Times New Roman" panose="02020603050405020304" pitchFamily="18" charset="0"/>
                <a:cs typeface="Times New Roman" panose="02020603050405020304" pitchFamily="18" charset="0"/>
              </a:rPr>
              <a:t>: Enhancing multimodal queries representation via fusion-free modality interaction for multimodal retrieval." In Findings of the Association for Computational Linguistics: ACL 2025, pp. 5350-5363. 2025.</a:t>
            </a:r>
          </a:p>
          <a:p>
            <a:pPr marL="469265" marR="5715" indent="-457200" algn="just">
              <a:spcBef>
                <a:spcPts val="105"/>
              </a:spcBef>
              <a:buClr>
                <a:schemeClr val="tx1"/>
              </a:buClr>
              <a:buFont typeface="+mj-lt"/>
              <a:buAutoNum type="arabicPeriod" startAt="11"/>
              <a:tabLst>
                <a:tab pos="469265" algn="l"/>
              </a:tabLst>
            </a:pPr>
            <a:r>
              <a:rPr lang="en-IN" sz="2000" dirty="0">
                <a:solidFill>
                  <a:srgbClr val="0070C0"/>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Lin, Sheng-Chieh, </a:t>
            </a:r>
            <a:r>
              <a:rPr lang="en-IN" sz="2000" dirty="0" err="1">
                <a:latin typeface="Times New Roman" panose="02020603050405020304" pitchFamily="18" charset="0"/>
                <a:cs typeface="Times New Roman" panose="02020603050405020304" pitchFamily="18" charset="0"/>
              </a:rPr>
              <a:t>Chankyu</a:t>
            </a:r>
            <a:r>
              <a:rPr lang="en-IN" sz="2000" dirty="0">
                <a:latin typeface="Times New Roman" panose="02020603050405020304" pitchFamily="18" charset="0"/>
                <a:cs typeface="Times New Roman" panose="02020603050405020304" pitchFamily="18" charset="0"/>
              </a:rPr>
              <a:t> Lee, Mohammad </a:t>
            </a:r>
            <a:r>
              <a:rPr lang="en-IN" sz="2000" dirty="0" err="1">
                <a:latin typeface="Times New Roman" panose="02020603050405020304" pitchFamily="18" charset="0"/>
                <a:cs typeface="Times New Roman" panose="02020603050405020304" pitchFamily="18" charset="0"/>
              </a:rPr>
              <a:t>Shoeybi</a:t>
            </a:r>
            <a:r>
              <a:rPr lang="en-IN" sz="2000" dirty="0">
                <a:latin typeface="Times New Roman" panose="02020603050405020304" pitchFamily="18" charset="0"/>
                <a:cs typeface="Times New Roman" panose="02020603050405020304" pitchFamily="18" charset="0"/>
              </a:rPr>
              <a:t>, Jimmy Lin, Bryan Catanzaro, and Wei Ping. "Mm-embed: Universal multimodal retrieval with multimodal </a:t>
            </a:r>
            <a:r>
              <a:rPr lang="en-IN" sz="2000" dirty="0" err="1">
                <a:latin typeface="Times New Roman" panose="02020603050405020304" pitchFamily="18" charset="0"/>
                <a:cs typeface="Times New Roman" panose="02020603050405020304" pitchFamily="18" charset="0"/>
              </a:rPr>
              <a:t>llms</a:t>
            </a:r>
            <a:r>
              <a:rPr lang="en-IN" sz="2000" dirty="0">
                <a:latin typeface="Times New Roman" panose="02020603050405020304" pitchFamily="18" charset="0"/>
                <a:cs typeface="Times New Roman" panose="02020603050405020304" pitchFamily="18" charset="0"/>
              </a:rPr>
              <a:t>, 2024." URL https://org/abs/2411.02571.</a:t>
            </a:r>
          </a:p>
          <a:p>
            <a:pPr marL="469265" marR="5715" indent="-457200" algn="just">
              <a:spcBef>
                <a:spcPts val="105"/>
              </a:spcBef>
              <a:buClr>
                <a:schemeClr val="tx1"/>
              </a:buClr>
              <a:buFont typeface="+mj-lt"/>
              <a:buAutoNum type="arabicPeriod" startAt="11"/>
              <a:tabLst>
                <a:tab pos="469265" algn="l"/>
              </a:tabLst>
            </a:pPr>
            <a:endParaRPr lang="en-IN" sz="2000" dirty="0">
              <a:solidFill>
                <a:srgbClr val="2D2B20"/>
              </a:solidFill>
              <a:latin typeface="Times New Roman" panose="02020603050405020304" pitchFamily="18" charset="0"/>
              <a:cs typeface="Times New Roman" panose="02020603050405020304" pitchFamily="18" charset="0"/>
            </a:endParaRPr>
          </a:p>
          <a:p>
            <a:pPr marL="469265" marR="5715" indent="-457200" algn="just">
              <a:spcBef>
                <a:spcPts val="105"/>
              </a:spcBef>
              <a:buClr>
                <a:schemeClr val="tx1"/>
              </a:buClr>
              <a:buFont typeface="+mj-lt"/>
              <a:buAutoNum type="arabicPeriod" startAt="11"/>
              <a:tabLst>
                <a:tab pos="469265" algn="l"/>
              </a:tabLst>
            </a:pPr>
            <a:endParaRPr lang="en-US" sz="2000" dirty="0">
              <a:solidFill>
                <a:schemeClr val="tx1"/>
              </a:solidFill>
              <a:latin typeface="Times New Roman" panose="02020603050405020304" pitchFamily="18" charset="0"/>
              <a:cs typeface="Times New Roman" panose="02020603050405020304" pitchFamily="18" charset="0"/>
            </a:endParaRPr>
          </a:p>
          <a:p>
            <a:pPr marL="469265" marR="5715" indent="-457200" algn="just">
              <a:lnSpc>
                <a:spcPct val="100000"/>
              </a:lnSpc>
              <a:spcBef>
                <a:spcPts val="105"/>
              </a:spcBef>
              <a:buClr>
                <a:schemeClr val="tx1"/>
              </a:buClr>
              <a:buFont typeface="+mj-lt"/>
              <a:buAutoNum type="arabicPeriod" startAt="11"/>
              <a:tabLst>
                <a:tab pos="469265" algn="l"/>
              </a:tabLst>
            </a:pPr>
            <a:endParaRPr lang="en-IN" sz="2000" dirty="0">
              <a:solidFill>
                <a:srgbClr val="2D2B20"/>
              </a:solidFill>
              <a:latin typeface="Times New Roman" panose="02020603050405020304" pitchFamily="18" charset="0"/>
              <a:cs typeface="Times New Roman" panose="02020603050405020304" pitchFamily="18" charset="0"/>
            </a:endParaRPr>
          </a:p>
          <a:p>
            <a:pPr marL="469265" marR="5715" indent="-457200" algn="just">
              <a:lnSpc>
                <a:spcPct val="100000"/>
              </a:lnSpc>
              <a:spcBef>
                <a:spcPts val="105"/>
              </a:spcBef>
              <a:buClr>
                <a:schemeClr val="tx1"/>
              </a:buClr>
              <a:buFont typeface="+mj-lt"/>
              <a:buAutoNum type="arabicPeriod" startAt="11"/>
              <a:tabLst>
                <a:tab pos="469265" algn="l"/>
              </a:tabLst>
            </a:pPr>
            <a:endParaRPr lang="en-IN" sz="2000" dirty="0">
              <a:solidFill>
                <a:srgbClr val="2D2B20"/>
              </a:solidFill>
              <a:latin typeface="Times New Roman" panose="02020603050405020304" pitchFamily="18" charset="0"/>
              <a:cs typeface="Times New Roman" panose="02020603050405020304" pitchFamily="18" charset="0"/>
            </a:endParaRPr>
          </a:p>
          <a:p>
            <a:pPr marL="469265" marR="5715" indent="-457200" algn="just">
              <a:lnSpc>
                <a:spcPct val="100000"/>
              </a:lnSpc>
              <a:spcBef>
                <a:spcPts val="105"/>
              </a:spcBef>
              <a:buClr>
                <a:schemeClr val="tx1"/>
              </a:buClr>
              <a:buFont typeface="+mj-lt"/>
              <a:buAutoNum type="arabicPeriod" startAt="11"/>
              <a:tabLst>
                <a:tab pos="469265" algn="l"/>
              </a:tabLst>
            </a:pPr>
            <a:endParaRPr lang="en-IN" sz="2000" dirty="0">
              <a:solidFill>
                <a:srgbClr val="2D2B2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9B84624-0D76-A63D-A19B-3ABD40E4CBDA}"/>
              </a:ext>
            </a:extLst>
          </p:cNvPr>
          <p:cNvSpPr>
            <a:spLocks noGrp="1"/>
          </p:cNvSpPr>
          <p:nvPr>
            <p:ph type="sldNum" sz="quarter" idx="7"/>
          </p:nvPr>
        </p:nvSpPr>
        <p:spPr/>
        <p:txBody>
          <a:bodyPr/>
          <a:lstStyle/>
          <a:p>
            <a:pPr marL="38100">
              <a:lnSpc>
                <a:spcPts val="1810"/>
              </a:lnSpc>
            </a:pPr>
            <a:fld id="{81D60167-4931-47E6-BA6A-407CBD079E47}" type="slidenum">
              <a:rPr lang="en-IN" spc="-50" smtClean="0"/>
              <a:t>22</a:t>
            </a:fld>
            <a:endParaRPr lang="en-IN" spc="-50" dirty="0"/>
          </a:p>
        </p:txBody>
      </p:sp>
    </p:spTree>
    <p:extLst>
      <p:ext uri="{BB962C8B-B14F-4D97-AF65-F5344CB8AC3E}">
        <p14:creationId xmlns:p14="http://schemas.microsoft.com/office/powerpoint/2010/main" val="1152283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3239</TotalTime>
  <Words>4611</Words>
  <Application>Microsoft Office PowerPoint</Application>
  <PresentationFormat>Widescreen</PresentationFormat>
  <Paragraphs>304</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Georgia</vt:lpstr>
      <vt:lpstr>Times New Roman</vt:lpstr>
      <vt:lpstr>Trebuchet MS</vt:lpstr>
      <vt:lpstr>Wingdings</vt:lpstr>
      <vt:lpstr>Office Theme</vt:lpstr>
      <vt:lpstr>PowerPoint Presentation</vt:lpstr>
      <vt:lpstr>OUTLINE</vt:lpstr>
      <vt:lpstr>ABSTRACT</vt:lpstr>
      <vt:lpstr>INTRODUCTION</vt:lpstr>
      <vt:lpstr>DATASET DESCRIPTION</vt:lpstr>
      <vt:lpstr>PowerPoint Presentation</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RESULT AND DISCUSSION</vt:lpstr>
      <vt:lpstr>CONCLUSION</vt:lpstr>
      <vt:lpstr>OUTPUT</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Mevin jaison,ashbin bijoy S6 B.Voc Data Science Reg.No :THawboa040,THAWBOA033</dc:title>
  <dc:creator>REJIN VARGHESE</dc:creator>
  <cp:lastModifiedBy>Navaneeth Krishnan C.K</cp:lastModifiedBy>
  <cp:revision>54</cp:revision>
  <dcterms:created xsi:type="dcterms:W3CDTF">2025-11-24T16:10:39Z</dcterms:created>
  <dcterms:modified xsi:type="dcterms:W3CDTF">2026-02-22T10:59:52Z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2025-03-31T00:00:00Z</vt:filetime>
  </property>
  <property fmtid="{D5CDD505-2E9C-101B-9397-08002B2CF9AE}" pid="3" name="Creator">
    <vt:lpwstr>Microsoft® PowerPoint® LTSC</vt:lpwstr>
  </property>
  <property fmtid="{D5CDD505-2E9C-101B-9397-08002B2CF9AE}" pid="4" name="LastSaved">
    <vt:filetime>2025-11-24T00:00:00Z</vt:filetime>
  </property>
  <property fmtid="{D5CDD505-2E9C-101B-9397-08002B2CF9AE}" pid="5" name="Producer">
    <vt:lpwstr>Microsoft® PowerPoint® LTSC</vt:lpwstr>
  </property>
</Properties>
</file>